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4:41:19.700"/>
    </inkml:context>
    <inkml:brush xml:id="br0">
      <inkml:brushProperty name="width" value="0.035" units="cm"/>
      <inkml:brushProperty name="height" value="0.035" units="cm"/>
    </inkml:brush>
  </inkml:definitions>
  <inkml:trace contextRef="#ctx0" brushRef="#br0">501 505 24575,'0'-2'0,"-1"0"0,0 0 0,0 0 0,0 0 0,0 0 0,-1 0 0,1 0 0,0 0 0,-1 0 0,1 0 0,-1 1 0,0-1 0,1 1 0,-1-1 0,0 1 0,0 0 0,0-1 0,-4 0 0,-41-21 0,32 18 0,0 0 0,-1 0 0,1 2 0,-1 0 0,0 1 0,0 0 0,0 2 0,0 0 0,1 0 0,-25 5 0,28-3 0,0 1 0,1 0 0,-1 1 0,1 0 0,0 1 0,0 0 0,0 1 0,1 0 0,-1 1 0,2 0 0,-1 1 0,1 0 0,0 0 0,-12 15 0,14-13 0,1 0 0,-1 1 0,2 0 0,0 0 0,0 1 0,1-1 0,0 1 0,1 0 0,0 0 0,1 0 0,-1 15 0,0 21 0,6 75 0,-1-72 0,0 119 0,3 71 0,17-75 0,0 10 0,-22-175 0,3 53 0,14 86 0,-6-82 0,-2 1 0,-3 0 0,-2 0 0,-3 0 0,-14 119 0,-24-17 0,22-109 0,-13 91 0,20-12 0,10 137 0,1-97 0,-3 1777 0,23-1631 0,-1-66 0,-21-218 0,2-1 0,1 0 0,1 0 0,10 31 0,6 16 0,21 159 0,-27-133 0,6 63 0,1 65 0,9 227 0,-33 104 0,5-501 0,4-1 0,1-1 0,19 63 0,-10-48 0,10 105 0,-22 327 0,-8-288 0,1-84 0,11 259 0,28 20 0,-17-284 0,1 18 0,-21-129 0,2 1 0,1-1 0,0 0 0,1 0 0,14 37 0,5 6 0,-4 1 0,14 75 0,-21-78 0,3-1 0,41 107 0,-27-102 0,-2 2 0,-4 0 0,26 128 0,-48-189 0,0 1 0,1 0 0,-1-1 0,1 1 0,0-1 0,1 1 0,-1-1 0,1 0 0,1 0 0,-1 0 0,1-1 0,0 1 0,0-1 0,1 0 0,-1 0 0,1 0 0,0-1 0,1 0 0,-1 0 0,1 0 0,-1 0 0,10 3 0,19 10 0,2-1 0,0-2 0,69 18 0,-87-28 0,0-1 0,0-1 0,1-1 0,-1 0 0,1-1 0,-1-1 0,1-1 0,-1-1 0,0 0 0,24-8 0,9-7 0,-1-3 0,-1-1 0,-1-3 0,-1-1 0,-1-3 0,-2-1 0,41-37 0,14-21 0,153-175 0,-223 228 0,0-2 0,-3 0 0,0-2 0,-3-1 0,-2-1 0,20-50 0,-31 53 0,-2-1 0,-1 0 0,-2 0 0,-1-70 0,5-33 0,14-123 0,3-33 0,-15 202 0,-4 0 0,-9-150 0,-4 194 0,-2 1 0,-17-52 0,-10-62 0,-32-339 0,27 81 0,21 255 0,-3-54 0,22 104 0,1 68 0,-1 1 0,-3-1 0,-2 0 0,-15-65 0,2 47 0,2 0 0,-12-127 0,6-14 0,2 36 0,3-2 0,-9-150 0,22 128 0,2 49 0,-24-174 0,17 244 0,8 57 0,-1 0 0,0 0 0,-2 0 0,-1 0 0,0 0 0,-12-26 0,6 23 0,1-2 0,1 1 0,1-1 0,1 0 0,-4-39 0,5 1 0,3-76 0,7-1221 0,-4 1011 0,22 43 0,1 21 0,-22-695 0,-3 462 0,2 506 0,1-8 0,-1 0 0,-2-1 0,0 1 0,-1 0 0,-7-25 0,-89-232 0,90 253 0,-1 1 0,-1 1 0,-1 0 0,-28-39 0,-73-73 0,102 123 0,-1 1 0,0 0 0,-1 1 0,0 1 0,0 0 0,-1 1 0,0 0 0,-1 1 0,0 0 0,0 2 0,-25-7 0,16 7 0,0 1 0,0 1 0,0 1 0,0 2 0,-1 0 0,1 2 0,-25 4 0,36-3 0,1 1 0,-1 0 0,1 1 0,1 0 0,-1 1 0,1 0 0,-15 12 0,-17 7 0,-229 121 0,233-129 0,-63 19 0,60-23 0,-57 27 0,14 3-39,22-10-624,-77 28 0,89-44-6163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4:41:23.089"/>
    </inkml:context>
    <inkml:brush xml:id="br0">
      <inkml:brushProperty name="width" value="0.035" units="cm"/>
      <inkml:brushProperty name="height" value="0.035"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08.227"/>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1098 0 24575,'0'0'0,"-5"0"0,-7 0 0,-4 0 0,-11 0 0,-4 0 0,-12 0 0,-1 0 0,-9 0 0,2 0 0,-2 0 0,5 0 0,6 0 0,5 0 0,-2 0 0,4 0 0,1 0 0,-3 0 0,2 0 0,1 0 0,2 0 0,-4 0 0,-4 0 0,-5 0 0,7 6 0,3-1 0,9 6 0,3 0 0,1 3 0,6 10 0,-2-3 0,-6-3 0,3 7 0,3 1 0,6 1 0,3 1 0,5 6 0,2 0 0,2 0 0,0-1 0,1 3 0,0-1 0,0-1 0,-1 10 0,1-2 0,-1 3 0,0-1 0,0 6 0,11 8 0,0-2 0,1 0 0,-3-7 0,-2-5 0,-3-6 0,-2 0 0,-1-2 0,0-3 0,-2 4 0,1-2 0,5-1 0,0-2 0,0-2 0,-1-1 0,5-1 0,-1 0 0,-2-1 0,-1 0 0,-1 11 0,3 6 0,0 0 0,-2-2 0,0 2 0,-2-4 0,-1-3 0,-1-3 0,-1 3 0,0-2 0,-1-2 0,1 4 0,0 10 0,0-1 0,0-2 0,0 1 0,-1-4 0,1-3 0,0-3 0,0 1 0,1-1 0,-1-2 0,0-1 0,0 4 0,0-2 0,0-1 0,0-1 0,0 4 0,0-1 0,0 20 0,-6 0 0,1 9 0,-1 0 0,1 5 0,2 4 0,1-7 0,1-9 0,0-4 0,1 3 0,0-6 0,1 6 0,-1-6 0,0-4 0,0 0 0,0 5 0,0-3 0,0 8 0,11 0 0,6 7 0,5 0 0,9-6 0,8-7 0,1-7 0,5 4 0,8-10 0,4 8 0,6-3 0,7 2 0,0-2 0,-3-9 0,8 2 0,3-9 0,3 4 0,17 5 0,2-5 0,22 4 0,3-1 0,17-6 0,21 4 0,2-6 0,10 4 0,-16-5 0,10-5 0,-13-1 0,-12 1 0,6 1 0,7 3 0,14-4 0,15 6 0,18 8 0,-6-5 0,-10-5 0,-9 5 0,-7-6 0,-11 6 0,12 6 0,-5-5 0,0-5 0,10 4 0,10 5 0,10-5 0,3 0 0,6-1 0,5-6 0,-3 5 0,3-4 0,-10 5 0,-15-4 0,-11-5 0,-12-5 0,-5-5 0,-14 1 0,-11 4 0,-15-2 0,-13-2 0,-11-2 0,-13-2 0,-16-3 0,-2-1 0,-11-1 0,-9 0 0,-1-1 0,-5 1 0,-3 0 0,1-1 0,-1 1 0,-1 0 0,-2 0 0,-2-5 0,-2-12 0,0 0 0,-6-9 0,-6-3 0,5-3 0,-4-10 0,-3-10 0,-5-6 0,-2 3 0,-4-6 0,-2-4 0,-1 5 0,-1-4 0,1-3 0,-1-5 0,0-4 0,1 8 0,0-6 0,-1-3 0,1-12 0,0-3 0,0-7 0,0-3 0,0 1 0,0 4 0,0 15 0,1 5 0,-1 2 0,0 1 0,0-12 0,0 3 0,-6-1 0,-5 0 0,-11 1 0,0 0 0,-2 6 0,3 6 0,6 1 0,-1-8 0,-1 4 0,-8-18 0,-3-3 0,3 10 0,0-3 0,1 3 0,-1 6 0,-1 1 0,0 6 0,-6-10 0,-1 14 0,1 9 0,-6-5 0,2 9 0,1-10 0,-10 0 0,-3 7 0,-9 1 0,42 46 0,0 0 0,-20-10 0,-37-16 0,-11 1 0,-3 9 0,-13 7 0,-11-4 0,-15 5 0,-9 5 0,-21 4 0,-20 4 0,-16 3 0,-9 2 0,-13 2 0,-22-1 0,12 1 0,-1 0 0,15 0 0,18-1 0,28 0 0,11-5 0,22-6 0,16-5 0,14 0 0,21 2 0,7 4 0,3-7 0,5-4 0,-3 3 0,-2-9 0,7 0 0,-8-8 0,-3 0 0,-10 0 0,-2-4 0,-8-4 0,-5 7 0,1-3 0,7 9 0,15 7 0,3-3 0,13 6 0,-6 0 0,2 4 0,1-6 0,-3 3 0,-4-2 0,-4-6 0,-20 3 0,2-1 0,-6-5 0,6 4 0,3 5 0,3-4 0,13 4 0,12 6 0,2 4 0,3 4 0,6-2 0,6 3 0,1 0 0,4 2 0,3 2 0,-8 1 0,-4 0 0,2 1 0,-2-5 0,3-6 0,-1 0 0,3 1 0,-6 2 0,-3 3 0,-19 1 0,-8 3 0,-16 0 0,-25 1 0,-8 1 0,-7-1 0,17 0 0,16 1 0,22-1 0,19 0 0,15 0 0,16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11.979"/>
    </inkml:context>
    <inkml:brush xml:id="br0">
      <inkml:brushProperty name="width" value="0.05" units="cm"/>
      <inkml:brushProperty name="height" value="0.05" units="cm"/>
      <inkml:brushProperty name="color" value="#AE198D"/>
      <inkml:brushProperty name="inkEffects" value="galaxy"/>
      <inkml:brushProperty name="anchorX" value="1739.54126"/>
      <inkml:brushProperty name="anchorY" value="988.81116"/>
      <inkml:brushProperty name="scaleFactor" value="0.5"/>
    </inkml:brush>
  </inkml:definitions>
  <inkml:trace contextRef="#ctx0" brushRef="#br0">8527 0 24575,'0'0'0,"-32"0"0,-84 0 0,-83 0 0,-88 0 0,-101 0-5374,-83 0 6909,-57 0-5738,-16 0 5184,24 0-1471,48 0 490,68 0-353,79 0 454,64 0-850,66 0 949,49 0 1607,47 0-2352,23 0 4692,23 0-5254,14 0 4608,4 0-4343,4 0 2395,3 0-1876,-5 0 484,-10 0-161,-11 0 0,-21 0 0,-9 0 0,-27 0 0,-19 0 0,-42 0 0,-24 0 0,-12 0 0,-4 11 0,23 1 0,26-1 0,23 4 0,27 3 0,6-3 0,11 8 0,7-3 0,3-3 0,4-5 0,7 1 0,0-3 0,-16 3 0,4 3 0,-2 4 0,7-3 0,7 2 0,19 2 0,5 2 0,10-4 0,6 1 0,-1-4 0,8 1 0,2 2 0,6 2 0,7 13 0,4 7 0,5 2 0,3 5 0,1 12 0,1 9 0,0 7 0,0 15 0,0 14 0,-1 29 0,1 31 0,-1 7 0,0 1 0,0 0 0,0-19 0,0-31 0,0-7 0,0-15 0,0-9 0,0-17 0,0-4 0,0-7 0,0-11 0,0-7 0,0-9 0,0 1 0,0-3 0,0-3 0,0 4 0,0 9 0,0 6 0,0-3 0,11-3 0,11 1 0,-16-42 0,-1 1 0,0 0 0,0 0 0,1 0 0,11 7 0,-4-7 0,-2 1 0,1-2 0,23 8 0,-6-6 0,41 5 0,64-1 0,37-6 0,29-3 0,34-2 0,27-1-1606,30 0 2065,15 1-688,1 10 229,29 29 0,0 1 0,-14 8 0,-6-6 0,-9 13 0,-36-9 0,-33-9 0,-17-11 0,-28-9-334,-16-8 429,-16-5-142,-22-3 47,-9-1 0,-15-1 0,-12 0 0,-20 0 1581,-8 1-2033,-9 0 1036,0 1-686,-10 0 153,15 0-51,3 0 0,6 0 0,18 0 0,24 0 0,29 0 0,8 0 0,19 0 0,3 0 0,12 0 0,-9 0 0,13-5 0,-22-1 0,-22-5 0,-28 1 0,-25 1 0,-32-3 0,-14-4 0,-4 2 0,3 3 0,-4 2 0,0 4 0,18 2 0,12 2 0,29 1 0,15 0 0,6 1 0,-11-1 0,-14 1 0,-21-1 0,-19 0 0,-16-5 0,-6-6 0,-12-5 0,-5-11 0,-3-9 0,-5-12 0,0-13 0,-4-8 0,7-8 0,-2-20 0,12-24 0,3 3 0,-3-8 0,4-8 0,-1-9 0,-6-2 0,-8 9 0,-5 3 0,-7 18 0,-4 1 0,-2 14 0,-2 3 0,0 17 0,0 4 0,0 13 0,0 6 0,0 10 0,1-4 0,0-5 0,0 3 0,0 5 0,0 1 0,0 4 0,0 5 0,0 4 0,0-2 0,0 2 0,0 1 0,0-4 0,0 2 0,0 1 0,0 1 0,0 2 0,-5 8 0,-1 0 0,-5 1 0,-5 5 0,-4 5 0,2-2 0,-7 4 0,-8 2 0,-12-8 0,-2 2 0,2 2 0,-18-9 0,-13-2 0,-8 3 0,-9 3 0,-18 0 0,0-1 0,-13 3 0,9 3 0,8 4 0,3-8 0,12 3 0,17 0 0,9 4 0,14 3 0,10 3 0,7 1 0,0 1 0,3 2 0,1-1 0,-4 1 0,0-6 0,2 0 0,-4-1 0,1 2 0,1 1 0,2 1 0,-3 0 0,-5-3 0,7-6 0,-9 0 0,2 1 0,-3 2 0,2-3 0,4 3 0,-3 1 0,3 2 0,2 1 0,4-3 0,6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16.579"/>
    </inkml:context>
    <inkml:brush xml:id="br0">
      <inkml:brushProperty name="width" value="0.05" units="cm"/>
      <inkml:brushProperty name="height" value="0.05" units="cm"/>
      <inkml:brushProperty name="color" value="#AE198D"/>
      <inkml:brushProperty name="inkEffects" value="galaxy"/>
      <inkml:brushProperty name="anchorX" value="3953.20483"/>
      <inkml:brushProperty name="anchorY" value="1962.54883"/>
      <inkml:brushProperty name="scaleFactor" value="0.5"/>
    </inkml:brush>
  </inkml:definitions>
  <inkml:trace contextRef="#ctx0" brushRef="#br0">1 29 24575,'0'0'0,"4"-5"0,30-1 0,32 0 0,17 2 0,21 0 0,31 2 0,27 1 0,34 0 0,51 1 0,55 11-1843,61 12 2369,44 27-3742,7-1 4060,-3-5-1266,-22-10 422,-41-11 0,-57-9-1623,-46-7 2087,-54-5-951,-55-2 560,-22-2 1330,-32 0-1814,-11 0 3502,-11 1-3916,10 0 3238,-7 0-2984,10 6 1205,8 6-734,4 0 150,19 10-50,5-2 0,-5 3 0,5-4 0,1-4 0,1-5 0,-11-3 0,-6-3 0,-23 3 0,-15 0 0,-7 4 0,-16 5 0,-30-13 0,0 0 0,-1 0 0,0 0 0,0 1 0,0-1 0,0 0 0,0 1 0,3 4 0,-3-2 0,0 0 0,0 0 0,0-1 0,-1 1 0,2 10 0,9 38 0,5 12 0,-1-2 0,-2 16 0,7 20 0,-3-1 0,8 22 0,-4 24 0,-3 25 0,5 10 0,-5-8 0,2-1 0,-4-14 0,1-14 0,2-23 0,-5-5 0,3 0 0,2-3 0,-4-5 0,-4 4 0,8 11 0,-3 6 0,-3-5 0,1 8 0,-3-3 0,-2-8 0,-4-11 0,-3-8 0,-1-19 0,-1-12 0,-2-3 0,-5-11 0,0-8 0,-6 3 0,5-37 0,1-2 0,-13 21 0,-29 25 0,-15-4 0,35-35 0,-33 17 0,-52 17 0,-37-10 0,-37-1 0,-44-10 0,-21-8-1118,-32-9 1437,1-7-479,7-4 160,15-2 0,24-2 0,35 4 0,41 7 0,33 0 0,30 5 0,16-2 0,9-3 0,3-2 0,0 8 1119,8-2-1439,-3-2 480,-1-3-160,6-2 0,8 2 0,-3-2 0,1-1 0,-12-2 0,0 10 0,-16-1 0,-5-1 0,-7-2 0,4 1 0,2-1 0,2-2 0,-3 8 0,1-2 0,0-1 0,8-3 0,6-4 0,13-2 0,11-2 0,9-2 0,1 0 0,6 0 0,1-1 0,-2 1 0,1-1 0,1 1 0,-10 0 0,-4-6 0,-4-5 0,8-5 0,5-6 0,-1-13 0,33 26 0,0 0 0,0 0 0,-7-13 0,-20-50 0,2-5 0,-5-17 0,-16-19 0,6-1 0,3-14 0,4-4 0,-2-11 0,4-1 0,8 10 0,8 12 0,7 19 0,7 10 0,-1 4 0,-4 9 0,2 3 0,2-11 0,-4 11 0,2-1 0,2 6 0,3-10 0,1 8 0,-9-1 0,1 11 0,1-2 0,2 5 0,-8-4 0,-4 8 0,2 1 0,4 7 0,4 2 0,-7-1 0,3 0 0,2-13 0,-2 8 0,3-5 0,-2 6 0,2 0 0,2 6 0,4 5 0,-3 0 0,-4-2 0,1 3 0,-3-14 0,-4-3 0,-2 3 0,2-6 0,4 6 0,5 6 0,-2 1 0,3 5 0,-9 5 0,2-2 0,3-8 0,-3 2 0,3 2 0,-2 4 0,3 4 0,3 3 0,3-3 0,2 1 0,2 2 0,-4-5 0,0 1 0,1 2 0,0-4 0,2 2 0,2 1 0,0 2 0,0-3 0,1 1 0,1 1 0,-1-3 0,0 1 0,0 1 0,0 2 0,0 3 0,0-5 0,0 1 0,0 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19.996"/>
    </inkml:context>
    <inkml:brush xml:id="br0">
      <inkml:brushProperty name="width" value="0.05" units="cm"/>
      <inkml:brushProperty name="height" value="0.05" units="cm"/>
      <inkml:brushProperty name="color" value="#AE198D"/>
      <inkml:brushProperty name="inkEffects" value="galaxy"/>
      <inkml:brushProperty name="anchorX" value="2773.28564"/>
      <inkml:brushProperty name="anchorY" value="960.79993"/>
      <inkml:brushProperty name="scaleFactor" value="0.5"/>
    </inkml:brush>
  </inkml:definitions>
  <inkml:trace contextRef="#ctx0" brushRef="#br0">194 0 24575,'0'0'0,"4"23"0,3 37 0,-2 34 0,10 13 0,0 32 0,-2 15 0,-3 6 0,-2 4 0,-4-20 0,-2-11 0,-1-6 0,9-7 0,1-22 0,0 2 0,3-7 0,-2-9 0,-3-4 0,-2-2 0,-2-11 0,8 0 0,-1-10 0,-1 2 0,-2-1 0,-3 4 0,3 0 0,-2-1 0,5-1 0,3-8 0,-1-6 0,-2 4 0,-3 0 0,-4 3 0,-2-5 0,-1-5 0,-2 0 0,5-3 0,0-4 0,1-3 0,-2 3 0,-1 3 0,4-5 0,0-3 0,-1 4 0,-2-2 0,0-1 0,-2-1 0,4-1 0,0-1 0,-1-1 0,10 10 0,0 0 0,-3 6 0,-1-2 0,-5-3 0,4 3 0,-2-4 0,-2-2 0,-2-3 0,-1-2 0,-7-8 0,-6-6 0,8-17 0,1 1 0,-1 0 0,1-1 0,-1 1 0,1-1 0,-1 1 0,1-1 0,-1 1 0,1-1 0,-1 0 0,1 0 0,-3 0 0,-28 0 0,-15-3 0,-2-13 0,-4-5 0,4 1 0,5-2 0,6-2 0,9-7 0,4-6 0,2-6 0,6 0 0,-1-4 0,0-1 0,-3 2 0,4 5 0,-2 9 0,-2-1 0,5 3 0,3 1 0,4 0 0,-7-4 0,1 0 0,3 0 0,3 1 0,3-4 0,3 1 0,12 2 0,-6 33 0,-1-1 0,0-1 0,-1 0 0,1 1 0,0 0 0,0-1 0,0 1 0,0 0 0,0 0 0,0 0 0,0 0 0,0 0 0,0 0 0,3 0 0,-2 1 0,2 0 0,0 0 0,-1 0 0,1 0 0,0 0 0,-1 0 0,10 3 0,-5 0 0,1 0 0,-1 0 0,17 9 0,33 13 0,7 20 0,-5 9 0,-7-1 0,-9-4 0,-6-5 0,-5 0 0,-5-5 0,-7 2 0,-1-2 0,-1-3 0,-5-3 0,-3-3 0,1 5 0,-3 9 0,3-5 0,3-2 0,-1-4 0,-4-2 0,3-7 0,2-8 0,-16-18 0,1 3 0,-1-1 0,1 0 0,-1 0 0,1 0 0,-1 0 0,1 0 0,0 0 0,-1 0 0,1 0 0,-1 0 0,1 0 0,-1 0 0,1 0 0,-1 0 0,1-1 0,-1 1 0,1 0 0,-1 0 0,1 0 0,-1-1 0,1 1 0,-1 0 0,1-1 0,-1 1 0,1 0 0,-1-1 0,17-16 0,-3-31 0,7-21 0,19-30 0,4-29 0,12-9 0,3-7 0,2 4 0,-6 17 0,-12 13 0,4 7 0,-11 19 0,-9 18 0,-5 9 0,-6 11 0,-6 9 0,-4 10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21.876"/>
    </inkml:context>
    <inkml:brush xml:id="br0">
      <inkml:brushProperty name="width" value="0.05" units="cm"/>
      <inkml:brushProperty name="height" value="0.05" units="cm"/>
      <inkml:brushProperty name="color" value="#AE198D"/>
      <inkml:brushProperty name="inkEffects" value="galaxy"/>
      <inkml:brushProperty name="anchorX" value="636.23505"/>
      <inkml:brushProperty name="anchorY" value="-2372.30347"/>
      <inkml:brushProperty name="scaleFactor" value="0.5"/>
    </inkml:brush>
  </inkml:definitions>
  <inkml:trace contextRef="#ctx0" brushRef="#br0">328 1 24575,'0'0'0,"10"0"0,3 5 0,-2 28 0,-13 22 0,-13 22 0,-14 21 0,-17 12 0,-2 5 0,0-8 0,4-23 0,5-12 0,4-23 0,9-12 0,8-9 0,7-14 0,22-31 0,15-16 0,13-36 0,4-3 0,-5-10 0,2-2 0,-3 4 0,-8 0 0,-3 17 0,-2 6 0,-5 5 0,-6 7 0,1 7 0,-4 4 0,8 9 0,-16 24 0,-1 0 0,1 0 0,-1 0 0,1 0 0,-1-1 0,1 2 0,0-1 0,0 0 0,0 0 0,3 0 0,-2 1 0,-1 0 0,1 0 0,-1 0 0,1 1 0,-1-1 0,1 1 0,-1-1 0,1 1 0,-1 0 0,3 1 0,38 26 0,13 14 0,16 4 0,3 1 0,-6 1 0,-10-9 0,-10-10 0,-8-5 0,-7-7 0,-10-6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37.617"/>
    </inkml:context>
    <inkml:brush xml:id="br0">
      <inkml:brushProperty name="width" value="0.05" units="cm"/>
      <inkml:brushProperty name="height" value="0.05" units="cm"/>
      <inkml:brushProperty name="color" value="#AE198D"/>
      <inkml:brushProperty name="inkEffects" value="galaxy"/>
      <inkml:brushProperty name="anchorX" value="-1013.29218"/>
      <inkml:brushProperty name="anchorY" value="-3767.35986"/>
      <inkml:brushProperty name="scaleFactor" value="0.5"/>
    </inkml:brush>
  </inkml:definitions>
  <inkml:trace contextRef="#ctx0" brushRef="#br0">13990 2203 24575,'0'0'0,"5"9"0,-4 31 0,-1 32 0,-12 43 0,-17 47 0,-16 26 0,-10 37 0,6 22-1604,-13-4 2063,12-24-689,-1-35 230,6-33 391,1-40-503,9-26 168,4-26-56,-2-11 0,-4-6 0,-4-11 1214,-6-4-1561,-20-8 520,-24 4-173,-30-5 0,-26-3 0,-10-5 0,-2-5 0,-9-2 0,10-2 0,0-1 0,16 0 0,17-1 0,15 0 0,8 0 0,13 1 0,6 0 0,-7-1 0,-15-9 0,-11-2 0,-6-10 0,6 2 0,12 2 0,3 4 0,7-5 0,11 2 0,9 3 0,-14-1 0,5 3 0,-18 3 0,1-8 0,11 3 0,4 1 0,4 3 0,12 3 0,2 3 0,-1-3 0,3 1 0,-3 1 0,7 1 0,-2 1 0,-14 2 0,-5 0 0,2-10 0,-1 0 0,-1 0 0,1 2 0,5 3 0,-16 2 0,-12 2 0,-28 1 0,-11 1 0,-23 0 0,-12 0 0,-9 1 0,5-1 0,4 1 0,21-1 0,10 0 0,20 0 0,15 0 0,2 0 0,-1 0 0,-11 0 0,4 0 0,-15 0 0,-5 0 0,-18 0 0,-8 0 0,1 0 0,-13 0 0,-11 0 0,0 0 0,-13 0 0,-3 0 0,6 0 0,12 0 0,20 0 0,18 0 0,10 0 0,23 0 0,13 0 0,11 0 0,-5 0 0,4 0 0,2 0 0,1 0 0,3-11 0,-10 0 0,-15-6 0,0 2 0,-15-13 0,7-4 0,-1-1 0,15 5 0,8-4 0,18 6 0,16 1 0,15 0 0,4 1 0,1 4 0,-11-5 0,-5-2 0,-7 5 0,-12-6 0,1-1 0,1 5 0,0 6 0,-1 6 0,10-1 0,3-7 0,6 2 0,1 2 0,-3-6 0,-5-2 0,-6 2 0,-15-11 0,-5-1 0,4-1 0,11-4 0,2 6 0,18 2 0,4 2 0,4 2 0,6 1 0,4-6 0,4 6 0,3-11 0,2-6 0,-4-5 0,5-4 0,-10-13 0,6 3 0,-6-10 0,2 1 0,7 8 0,7 3 0,7-2 0,7 7 0,3 7 0,4 2 0,0 5 0,2 4 0,-1 4 0,0-2 0,0 1 0,0 1 0,-1 2 0,0-4 0,1 1 0,4 0 0,0-3 0,1 1 0,-2-4 0,5 1 0,-1-3 0,9-13 0,5-5 0,-2-2 0,-3-6 0,6 7 0,-4 7 0,2 4 0,-4 0 0,1 1 0,1-2 0,2 11 0,3-2 0,1 0 0,-4 2 0,6 3 0,-5-2 0,1 2 0,0 2 0,7 3 0,-4 1 0,5-3 0,6-5 0,0-5 0,5 1 0,3 3 0,-2-3 0,9 10 0,-4 7 0,-4 4 0,-4 1 0,6-5 0,-3 3 0,-2 4 0,1 6 0,-3 5 0,-3 3 0,-2 4 0,8-5 0,9 1 0,-1 1 0,-3-5 0,1-5 0,-4 2 0,-5 1 0,-5 3 0,3 2 0,-2 3 0,-2-4 0,4 1 0,-2 1 0,0 1 0,3 1 0,-2 2 0,-2 0 0,-1 1 0,3 0 0,-1 0 0,-1 0 0,-2 0 0,4 1 0,-1-1 0,4-6 0,-1 1 0,-3-1 0,-17 2 0,-14 0 0,-8-3 0,-15-6 0,0-4 0,0-15 0,5-4 0,-2-2 0,4-4 0,-3-4 0,4 2 0,2 4 0,3 3 0,-3 3 0,7 20 0,2 14 0,0 0 0,0 0 0,0-1 0,0 1 0,0 0 0,0 0 0,0 0 0,0 0 0,0 0 0,0 0 0,0 0 0,0 0 0,0 0 0,0-1 0,0 1 0,0 0 0,0 0 0,0 0 0,1 0 0,-1 0 0,0 0 0,0 0 0,0 0 0,0 0 0,0 0 0,0 0 0,0 0 0,0-1 0,0 1 0,0 0 0,1 0 0,-1 0 0,0 0 0,0 0 0,0 0 0,0 0 0,0 0 0,0 0 0,0 0 0,0 0 0,0 0 0,1 0 0,-1 0 0,0 0 0,0 0 0,0 0 0,0 0 0,0 0 0,0 1 0,0-1 0,0 0 0,0 0 0,1 0 0,-1 0 0,0 0 0,0 0 0,0 0 0,0 0 0,0 0 0,0 0 0,0 0 0,0 0 0,0 0 0,0 1 0,0-1 0,0 0 0,0 0 0,0 0 0,18 12 0,12 8 0,9 17 0,9 3 0,4 2 0,3 3 0,-3-9 0,-6-2 0,-6-10 0,-5-2 0,-4-1 0,-8 1 0,-7 1 0,-12 6 0,-5-24 0,0 0 0,0 0 0,-1-1 0,1 1 0,-4 8 0,-16 19 0,-11 5 0,-10-2 0,-11 4 0,-6 5 0,-1 3 0,4-2 0,7-4 0,2 2 0,0-3 0,10-4 0,4-3 0,3-2 0,9-2 0,6-7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05:16:42.908"/>
    </inkml:context>
    <inkml:brush xml:id="br0">
      <inkml:brushProperty name="width" value="0.05" units="cm"/>
      <inkml:brushProperty name="height" value="0.05" units="cm"/>
      <inkml:brushProperty name="color" value="#AE198D"/>
      <inkml:brushProperty name="inkEffects" value="galaxy"/>
      <inkml:brushProperty name="anchorX" value="12038.54297"/>
      <inkml:brushProperty name="anchorY" value="-1547.81714"/>
      <inkml:brushProperty name="scaleFactor" value="0.5"/>
    </inkml:brush>
  </inkml:definitions>
  <inkml:trace contextRef="#ctx0" brushRef="#br0">0 3923 24575,'0'0'0,"5"0"0,12 0 0,16 0 0,5 0 0,14-6 0,4 1 0,3-6 0,-5 1 0,0 1 0,-7-9 0,0-3 0,-11-4 0,-4 3 0,2 0 0,-8-1 0,4-7 0,6-1 0,-6 0 0,-1-6 0,-1-5 0,-1 2 0,-1 1 0,1-13 0,-6 2 0,6-3 0,-5-6 0,0 10 0,-4-6 0,0 7 0,-4-7 0,-4-5 0,2 4 0,3-1 0,-3 2 0,10-5 0,-3 6 0,-3 5 0,-4-4 0,6-6 0,3 0 0,3-2 0,-3 2 0,1-5 0,-5 6 0,-4 8 0,6 1 0,-4 6 0,-1 6 0,-5-2 0,3 3 0,-3 2 0,3-3 0,-2 2 0,-1 0 0,-3-2 0,-3 1 0,11-10 0,3 3 0,0-5 0,-2 4 0,-4-7 0,7 3 0,-3-7 0,-2-6 0,2 9 0,-3 6 0,2-4 0,-2 5 0,-2-2 0,-4 5 0,-2 3 0,-2 4 0,-1-2 0,-1 3 0,0 0 0,-1 3 0,0 1 0,1 1 0,0 1 0,0 1 0,-1 0 0,1-5 0,0-1 0,0 0 0,-5 2 0,-1 0 0,0 2 0,-4 5 0,1 2 0,-4 6 0,-4-1 0,2-1 0,-3 3 0,-1 4 0,2-3 0,-2 4 0,-1-3 0,-3 2 0,-1 2 0,-1 2 0,3-2 0,1 1 0,-12-9 0,-1 2 0,-7 1 0,0 3 0,3 4 0,7-3 0,4 2 0,-4 2 0,2 2 0,-7 1 0,1-4 0,0 1 0,-9 0 0,2 2 0,1-5 0,3 2 0,-1 0 0,1 2 0,3 2 0,14 1 0,21 0 0,0 2 0,0 0 0,0 0 0,-1-1 0,1 1 0,0 0 0,0 0 0,-1 0 0,1 0 0,0-1 0,0 1 0,-1 0 0,1 0 0,0 0 0,0-1 0,0 1 0,0 0 0,-1-1 0,1 1 0,0 0 0,0 0 0,0-1 0,0 1 0,0 0 0,0-1 0,0 1 0,0 0 0,0 0 0,0-1 0,0 1 0,0 0 0,0-1 0,0 1 0,0 0 0,0-1 0,0 1 0,0 0 0,0 0 0,1-1 0,9-16 0,16-10 0,6-10 0,3-2 0,-4 1 0,-13 6 0,-14 9 0,-6 14 0,-3 11 0,-7 11 0,-11 13 0,2 5 0,-3 3 0,4 6 0,-1-7 0,5-2 0,-1-1 0,-2-3 0,4 0 0,-3-6 0,5 0 0,2 0 0,4 1 0,8-4 0,14 7 0,7-4 0,10-4 0,4 0 0,-5 1 0,-2-2 0,-1-5 0,-1-3 0,-1 2 0,6-2 0,0-2 0,-5 4 0,-7-1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42583-C914-66AE-7A61-E0D66F88E6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D18D732-076C-8AB1-5A69-85A722C721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726C26-6FD7-864E-1506-FA03E8BE6029}"/>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5" name="Footer Placeholder 4">
            <a:extLst>
              <a:ext uri="{FF2B5EF4-FFF2-40B4-BE49-F238E27FC236}">
                <a16:creationId xmlns:a16="http://schemas.microsoft.com/office/drawing/2014/main" id="{1AF13569-01FF-F5BA-7B71-4E7F9D96E5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AFC6EC-8C36-3D36-7BDB-7D8E257E5196}"/>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2552966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6D586-EB04-2D67-C74D-72C299EA68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0CCB9C-1549-137F-EA97-62145CFFB0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036E02-DC93-0F33-D5D1-5CC6A8A2E068}"/>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5" name="Footer Placeholder 4">
            <a:extLst>
              <a:ext uri="{FF2B5EF4-FFF2-40B4-BE49-F238E27FC236}">
                <a16:creationId xmlns:a16="http://schemas.microsoft.com/office/drawing/2014/main" id="{3CB67CC4-11BD-E2D7-8127-4ED9423600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59A4C8-CC44-0632-350E-5A50000983BD}"/>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812088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BA00D-7466-222F-925C-21643A0A14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0A3075-7A0B-B414-EF5E-9CABF0862B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5C945C-6467-BAD2-1D9E-ED5A5A558BF8}"/>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5" name="Footer Placeholder 4">
            <a:extLst>
              <a:ext uri="{FF2B5EF4-FFF2-40B4-BE49-F238E27FC236}">
                <a16:creationId xmlns:a16="http://schemas.microsoft.com/office/drawing/2014/main" id="{D293C486-2548-EE36-6EBD-29BFAE3C59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DA262C-4019-FA17-E8C8-A279DD382568}"/>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290117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33692-A43A-88F7-4BAF-C858251747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031B17-3464-6411-3CE9-A37543FC77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FA450E-71EB-5A9C-FB2B-A7304E303B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984D16-2020-FFD9-B2D5-8BC1E6BE28CB}"/>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6" name="Footer Placeholder 5">
            <a:extLst>
              <a:ext uri="{FF2B5EF4-FFF2-40B4-BE49-F238E27FC236}">
                <a16:creationId xmlns:a16="http://schemas.microsoft.com/office/drawing/2014/main" id="{B105DE5C-4EA1-3796-EDD9-570622970A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6BB9E1-8809-FA56-FBCA-606D57CE7A25}"/>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163460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DB830-B661-8252-DA59-0E7F7A125F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778288-01C4-CA5D-5803-F030E392C6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721E97-BA96-92BB-2EA9-F4AED44B23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B98F6A-D66E-2569-58C5-03FA5EBAD9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BD1089-7716-334E-45FD-D35E2D0C3B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7B1870-C9C8-D561-CF44-0338AFA21F74}"/>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8" name="Footer Placeholder 7">
            <a:extLst>
              <a:ext uri="{FF2B5EF4-FFF2-40B4-BE49-F238E27FC236}">
                <a16:creationId xmlns:a16="http://schemas.microsoft.com/office/drawing/2014/main" id="{7DF14014-EBCA-BFB3-008E-D301ACAA4E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6AE4B4-433A-3AC0-FBF5-581C41E8A3D2}"/>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312121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2939-2E3E-24C5-5FA7-D142963893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3731E6-6D24-1042-7699-E68953F0C1FE}"/>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4" name="Footer Placeholder 3">
            <a:extLst>
              <a:ext uri="{FF2B5EF4-FFF2-40B4-BE49-F238E27FC236}">
                <a16:creationId xmlns:a16="http://schemas.microsoft.com/office/drawing/2014/main" id="{368B8F31-ADD0-217F-DFD9-8A321A6C13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77AFD4-651A-A2D4-CCFF-4E7F1D349466}"/>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3273421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97AFA-9EF5-5FD8-2109-06D34CD60079}"/>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3" name="Footer Placeholder 2">
            <a:extLst>
              <a:ext uri="{FF2B5EF4-FFF2-40B4-BE49-F238E27FC236}">
                <a16:creationId xmlns:a16="http://schemas.microsoft.com/office/drawing/2014/main" id="{0CCADDC9-FFBA-04AC-0C06-32FBFB34B11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8C6BA0-BCED-D5F5-35DE-BD5725B1AC3C}"/>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1580261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2D0F4-A638-1D20-30E2-73D1B0C67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8EFBE3-CC3C-0863-0A37-767B8CB8DD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22A670-73B6-39AD-955D-B165449AD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FB71BA-3133-51CE-E349-DAE4320337DF}"/>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6" name="Footer Placeholder 5">
            <a:extLst>
              <a:ext uri="{FF2B5EF4-FFF2-40B4-BE49-F238E27FC236}">
                <a16:creationId xmlns:a16="http://schemas.microsoft.com/office/drawing/2014/main" id="{2E31A3FC-B281-2E68-77CA-FBB44B8BE7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7CE9FD-440C-A819-4AFB-D2F9DFFA577D}"/>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194747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1B2D1-3008-7D9D-46EA-B95DEF86D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45BBA2-CFF7-2D6A-8C55-B768CF8DE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65CC53-FFD7-DA84-1162-91BB5AA181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65084-7678-E673-6BD9-71A068C49A7D}"/>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6" name="Footer Placeholder 5">
            <a:extLst>
              <a:ext uri="{FF2B5EF4-FFF2-40B4-BE49-F238E27FC236}">
                <a16:creationId xmlns:a16="http://schemas.microsoft.com/office/drawing/2014/main" id="{5A4A6681-AE1F-3442-4B4D-5FDBF07CFC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86E795-3043-EE0C-51CB-10E4618B114D}"/>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1764536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04013-F380-225B-586A-FEEFE88AE4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137583-2F4C-AB24-E499-59A8A77867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538E6E-7FBD-018C-BBA3-CFFDD90817E8}"/>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5" name="Footer Placeholder 4">
            <a:extLst>
              <a:ext uri="{FF2B5EF4-FFF2-40B4-BE49-F238E27FC236}">
                <a16:creationId xmlns:a16="http://schemas.microsoft.com/office/drawing/2014/main" id="{23564F72-E268-3D14-BCFB-0C748E7B95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ABEE1A-E1EE-69A4-DFCA-1E754873F676}"/>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450956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4BEAC4-D1CC-403E-76FD-CBFE4AC22E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8B905B-18D4-534B-B838-994427E74C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DB8CEA-6F9C-8769-CAAE-DAA9238255A5}"/>
              </a:ext>
            </a:extLst>
          </p:cNvPr>
          <p:cNvSpPr>
            <a:spLocks noGrp="1"/>
          </p:cNvSpPr>
          <p:nvPr>
            <p:ph type="dt" sz="half" idx="10"/>
          </p:nvPr>
        </p:nvSpPr>
        <p:spPr/>
        <p:txBody>
          <a:bodyPr/>
          <a:lstStyle/>
          <a:p>
            <a:fld id="{E189C26E-D086-4AB5-AB4D-132BC2210A12}" type="datetimeFigureOut">
              <a:rPr lang="en-IN" smtClean="0"/>
              <a:t>12-12-2024</a:t>
            </a:fld>
            <a:endParaRPr lang="en-IN"/>
          </a:p>
        </p:txBody>
      </p:sp>
      <p:sp>
        <p:nvSpPr>
          <p:cNvPr id="5" name="Footer Placeholder 4">
            <a:extLst>
              <a:ext uri="{FF2B5EF4-FFF2-40B4-BE49-F238E27FC236}">
                <a16:creationId xmlns:a16="http://schemas.microsoft.com/office/drawing/2014/main" id="{C97C8F2C-B3A1-E71D-0523-5CAF41372C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825833-A354-81E7-5404-4DA181276C3B}"/>
              </a:ext>
            </a:extLst>
          </p:cNvPr>
          <p:cNvSpPr>
            <a:spLocks noGrp="1"/>
          </p:cNvSpPr>
          <p:nvPr>
            <p:ph type="sldNum" sz="quarter" idx="12"/>
          </p:nvPr>
        </p:nvSpPr>
        <p:spPr/>
        <p:txBody>
          <a:bodyPr/>
          <a:lstStyle/>
          <a:p>
            <a:fld id="{50EB650A-AABE-491E-882D-3B38FFB52653}" type="slidenum">
              <a:rPr lang="en-IN" smtClean="0"/>
              <a:t>‹#›</a:t>
            </a:fld>
            <a:endParaRPr lang="en-IN"/>
          </a:p>
        </p:txBody>
      </p:sp>
    </p:spTree>
    <p:extLst>
      <p:ext uri="{BB962C8B-B14F-4D97-AF65-F5344CB8AC3E}">
        <p14:creationId xmlns:p14="http://schemas.microsoft.com/office/powerpoint/2010/main" val="742067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901C0C-B23D-03DF-A712-E4A0A73467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66CA08-FBD1-6805-5D7B-57E484225A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404620-9A36-966A-DA78-2E9D212B1F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89C26E-D086-4AB5-AB4D-132BC2210A12}" type="datetimeFigureOut">
              <a:rPr lang="en-IN" smtClean="0"/>
              <a:t>12-12-2024</a:t>
            </a:fld>
            <a:endParaRPr lang="en-IN"/>
          </a:p>
        </p:txBody>
      </p:sp>
      <p:sp>
        <p:nvSpPr>
          <p:cNvPr id="5" name="Footer Placeholder 4">
            <a:extLst>
              <a:ext uri="{FF2B5EF4-FFF2-40B4-BE49-F238E27FC236}">
                <a16:creationId xmlns:a16="http://schemas.microsoft.com/office/drawing/2014/main" id="{2348D082-EEF4-BCB6-F4CE-BC343FEA51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6472CDE-E400-C9B4-9980-91C7F31CC4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EB650A-AABE-491E-882D-3B38FFB52653}" type="slidenum">
              <a:rPr lang="en-IN" smtClean="0"/>
              <a:t>‹#›</a:t>
            </a:fld>
            <a:endParaRPr lang="en-IN"/>
          </a:p>
        </p:txBody>
      </p:sp>
    </p:spTree>
    <p:extLst>
      <p:ext uri="{BB962C8B-B14F-4D97-AF65-F5344CB8AC3E}">
        <p14:creationId xmlns:p14="http://schemas.microsoft.com/office/powerpoint/2010/main" val="1041045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customXml" Target="../ink/ink8.xml"/><Relationship Id="rId3" Type="http://schemas.openxmlformats.org/officeDocument/2006/relationships/customXml" Target="../ink/ink3.xml"/><Relationship Id="rId7" Type="http://schemas.openxmlformats.org/officeDocument/2006/relationships/customXml" Target="../ink/ink5.xml"/><Relationship Id="rId12" Type="http://schemas.openxmlformats.org/officeDocument/2006/relationships/image" Target="../media/image10.png"/><Relationship Id="rId2" Type="http://schemas.openxmlformats.org/officeDocument/2006/relationships/image" Target="../media/image5.png"/><Relationship Id="rId16"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customXml" Target="../ink/ink7.xml"/><Relationship Id="rId5" Type="http://schemas.openxmlformats.org/officeDocument/2006/relationships/customXml" Target="../ink/ink4.xml"/><Relationship Id="rId15" Type="http://schemas.openxmlformats.org/officeDocument/2006/relationships/customXml" Target="../ink/ink9.xm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customXml" Target="../ink/ink6.xml"/><Relationship Id="rId1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0032-194E-3CAC-089F-12D740E5A291}"/>
              </a:ext>
            </a:extLst>
          </p:cNvPr>
          <p:cNvSpPr>
            <a:spLocks noGrp="1"/>
          </p:cNvSpPr>
          <p:nvPr>
            <p:ph type="ctrTitle"/>
          </p:nvPr>
        </p:nvSpPr>
        <p:spPr>
          <a:xfrm>
            <a:off x="1524000" y="834189"/>
            <a:ext cx="9144000" cy="2326106"/>
          </a:xfrm>
        </p:spPr>
        <p:txBody>
          <a:bodyPr>
            <a:normAutofit fontScale="90000"/>
          </a:bodyPr>
          <a:lstStyle/>
          <a:p>
            <a:r>
              <a:rPr lang="en-IN" dirty="0"/>
              <a:t>Final Project </a:t>
            </a:r>
            <a:br>
              <a:rPr lang="en-IN" dirty="0"/>
            </a:br>
            <a:r>
              <a:rPr lang="en-IN" dirty="0"/>
              <a:t>DATA 1204: Statistical Predictive Modelling</a:t>
            </a:r>
          </a:p>
        </p:txBody>
      </p:sp>
      <p:sp>
        <p:nvSpPr>
          <p:cNvPr id="3" name="Subtitle 2">
            <a:extLst>
              <a:ext uri="{FF2B5EF4-FFF2-40B4-BE49-F238E27FC236}">
                <a16:creationId xmlns:a16="http://schemas.microsoft.com/office/drawing/2014/main" id="{863F6EFF-0CC8-53C7-ABBF-8F1905CF32C4}"/>
              </a:ext>
            </a:extLst>
          </p:cNvPr>
          <p:cNvSpPr>
            <a:spLocks noGrp="1"/>
          </p:cNvSpPr>
          <p:nvPr>
            <p:ph type="subTitle" idx="1"/>
          </p:nvPr>
        </p:nvSpPr>
        <p:spPr>
          <a:xfrm>
            <a:off x="1524000" y="3641558"/>
            <a:ext cx="9144000" cy="1989222"/>
          </a:xfrm>
        </p:spPr>
        <p:txBody>
          <a:bodyPr>
            <a:normAutofit lnSpcReduction="10000"/>
          </a:bodyPr>
          <a:lstStyle/>
          <a:p>
            <a:r>
              <a:rPr lang="en-IN" b="1" dirty="0"/>
              <a:t>Submitted by: Shaili Jani</a:t>
            </a:r>
          </a:p>
          <a:p>
            <a:r>
              <a:rPr lang="en-IN" b="1" dirty="0"/>
              <a:t>Student ID: 100958447</a:t>
            </a:r>
            <a:br>
              <a:rPr lang="en-IN" b="1" dirty="0"/>
            </a:br>
            <a:br>
              <a:rPr lang="en-IN" b="1" dirty="0"/>
            </a:br>
            <a:br>
              <a:rPr lang="en-IN" b="1" dirty="0"/>
            </a:br>
            <a:br>
              <a:rPr lang="en-IN" b="1" dirty="0"/>
            </a:br>
            <a:r>
              <a:rPr lang="en-IN" b="1" dirty="0"/>
              <a:t>Submitted to: Prof. Varga </a:t>
            </a:r>
          </a:p>
        </p:txBody>
      </p:sp>
    </p:spTree>
    <p:extLst>
      <p:ext uri="{BB962C8B-B14F-4D97-AF65-F5344CB8AC3E}">
        <p14:creationId xmlns:p14="http://schemas.microsoft.com/office/powerpoint/2010/main" val="253692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5B5D2-D328-CD0E-72E5-BD88FB703F35}"/>
              </a:ext>
            </a:extLst>
          </p:cNvPr>
          <p:cNvSpPr>
            <a:spLocks noGrp="1"/>
          </p:cNvSpPr>
          <p:nvPr>
            <p:ph type="title"/>
          </p:nvPr>
        </p:nvSpPr>
        <p:spPr/>
        <p:txBody>
          <a:bodyPr/>
          <a:lstStyle/>
          <a:p>
            <a:r>
              <a:rPr lang="en-IN" dirty="0"/>
              <a:t>1. Research Requirements </a:t>
            </a:r>
          </a:p>
        </p:txBody>
      </p:sp>
      <p:sp>
        <p:nvSpPr>
          <p:cNvPr id="3" name="Content Placeholder 2">
            <a:extLst>
              <a:ext uri="{FF2B5EF4-FFF2-40B4-BE49-F238E27FC236}">
                <a16:creationId xmlns:a16="http://schemas.microsoft.com/office/drawing/2014/main" id="{C28BC318-7C27-76E4-B32B-E1A033F78CB5}"/>
              </a:ext>
            </a:extLst>
          </p:cNvPr>
          <p:cNvSpPr>
            <a:spLocks noGrp="1"/>
          </p:cNvSpPr>
          <p:nvPr>
            <p:ph idx="1"/>
          </p:nvPr>
        </p:nvSpPr>
        <p:spPr/>
        <p:txBody>
          <a:bodyPr/>
          <a:lstStyle/>
          <a:p>
            <a:r>
              <a:rPr lang="en-IN" dirty="0"/>
              <a:t>Mr. John Hughes has collected dataset on newborn baby weights consisting of 1174 rows and 7 variables. </a:t>
            </a:r>
            <a:br>
              <a:rPr lang="en-IN" dirty="0"/>
            </a:br>
            <a:endParaRPr lang="en-IN" dirty="0"/>
          </a:p>
          <a:p>
            <a:r>
              <a:rPr lang="en-IN" dirty="0"/>
              <a:t>He wants to understand the effect of smoke (a categorical independent variable) on newborn baby weights (</a:t>
            </a:r>
            <a:r>
              <a:rPr lang="en-IN" dirty="0" err="1"/>
              <a:t>bwt</a:t>
            </a:r>
            <a:r>
              <a:rPr lang="en-IN" dirty="0"/>
              <a:t>) (a dependent numerical variable).</a:t>
            </a:r>
          </a:p>
          <a:p>
            <a:endParaRPr lang="en-IN" dirty="0"/>
          </a:p>
          <a:p>
            <a:r>
              <a:rPr lang="en-IN" dirty="0"/>
              <a:t>He also wants to study the effect of other 6 independent variables on newborn baby weights (</a:t>
            </a:r>
            <a:r>
              <a:rPr lang="en-IN" dirty="0" err="1"/>
              <a:t>bwt</a:t>
            </a:r>
            <a:r>
              <a:rPr lang="en-IN" dirty="0"/>
              <a:t>) the dependent target variable. </a:t>
            </a:r>
          </a:p>
        </p:txBody>
      </p:sp>
    </p:spTree>
    <p:extLst>
      <p:ext uri="{BB962C8B-B14F-4D97-AF65-F5344CB8AC3E}">
        <p14:creationId xmlns:p14="http://schemas.microsoft.com/office/powerpoint/2010/main" val="3743612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80EFA-1CB1-5525-2801-75AB602C90C4}"/>
              </a:ext>
            </a:extLst>
          </p:cNvPr>
          <p:cNvSpPr>
            <a:spLocks noGrp="1"/>
          </p:cNvSpPr>
          <p:nvPr>
            <p:ph type="title"/>
          </p:nvPr>
        </p:nvSpPr>
        <p:spPr/>
        <p:txBody>
          <a:bodyPr/>
          <a:lstStyle/>
          <a:p>
            <a:r>
              <a:rPr lang="en-IN" dirty="0"/>
              <a:t>2. Basic Descriptive Statistics</a:t>
            </a:r>
          </a:p>
        </p:txBody>
      </p:sp>
      <p:pic>
        <p:nvPicPr>
          <p:cNvPr id="5" name="Picture 4">
            <a:extLst>
              <a:ext uri="{FF2B5EF4-FFF2-40B4-BE49-F238E27FC236}">
                <a16:creationId xmlns:a16="http://schemas.microsoft.com/office/drawing/2014/main" id="{EFA73B05-8ACE-9D10-47A5-3312A84CAF78}"/>
              </a:ext>
            </a:extLst>
          </p:cNvPr>
          <p:cNvPicPr>
            <a:picLocks noChangeAspect="1"/>
          </p:cNvPicPr>
          <p:nvPr/>
        </p:nvPicPr>
        <p:blipFill>
          <a:blip r:embed="rId2"/>
          <a:stretch>
            <a:fillRect/>
          </a:stretch>
        </p:blipFill>
        <p:spPr>
          <a:xfrm>
            <a:off x="458169" y="1523014"/>
            <a:ext cx="11469008" cy="4184450"/>
          </a:xfrm>
          <a:prstGeom prst="rect">
            <a:avLst/>
          </a:prstGeom>
        </p:spPr>
      </p:pic>
    </p:spTree>
    <p:extLst>
      <p:ext uri="{BB962C8B-B14F-4D97-AF65-F5344CB8AC3E}">
        <p14:creationId xmlns:p14="http://schemas.microsoft.com/office/powerpoint/2010/main" val="36273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5AC89-4F1C-E7FE-BFFC-1257D66EF08D}"/>
              </a:ext>
            </a:extLst>
          </p:cNvPr>
          <p:cNvSpPr>
            <a:spLocks noGrp="1"/>
          </p:cNvSpPr>
          <p:nvPr>
            <p:ph type="title"/>
          </p:nvPr>
        </p:nvSpPr>
        <p:spPr/>
        <p:txBody>
          <a:bodyPr/>
          <a:lstStyle/>
          <a:p>
            <a:r>
              <a:rPr lang="en-IN" dirty="0"/>
              <a:t>2. Basic Descriptive Statistics</a:t>
            </a:r>
          </a:p>
        </p:txBody>
      </p:sp>
      <p:sp>
        <p:nvSpPr>
          <p:cNvPr id="3" name="Content Placeholder 2">
            <a:extLst>
              <a:ext uri="{FF2B5EF4-FFF2-40B4-BE49-F238E27FC236}">
                <a16:creationId xmlns:a16="http://schemas.microsoft.com/office/drawing/2014/main" id="{D5DDB46C-6BA5-F47B-E62F-0D365B0B1A6C}"/>
              </a:ext>
            </a:extLst>
          </p:cNvPr>
          <p:cNvSpPr>
            <a:spLocks noGrp="1"/>
          </p:cNvSpPr>
          <p:nvPr>
            <p:ph idx="1"/>
          </p:nvPr>
        </p:nvSpPr>
        <p:spPr/>
        <p:txBody>
          <a:bodyPr>
            <a:normAutofit fontScale="92500" lnSpcReduction="20000"/>
          </a:bodyPr>
          <a:lstStyle/>
          <a:p>
            <a:pPr marL="0" indent="0">
              <a:buNone/>
            </a:pPr>
            <a:r>
              <a:rPr lang="en-US" dirty="0"/>
              <a:t>1. </a:t>
            </a:r>
            <a:r>
              <a:rPr lang="en-US" u="sng" dirty="0"/>
              <a:t>For Birthweights:</a:t>
            </a:r>
          </a:p>
          <a:p>
            <a:pPr marL="0" indent="0">
              <a:buNone/>
            </a:pPr>
            <a:r>
              <a:rPr lang="en-US" dirty="0"/>
              <a:t>The basic descriptive statistics derived from analytics for birthweights says that the average birthweight of newborn babies is 3387lb. It gives us an idea that despite the least weight starting from 1559lb unit, majority of data points in the dataset would be clustered around the value of mean value. </a:t>
            </a:r>
            <a:br>
              <a:rPr lang="en-US" dirty="0"/>
            </a:br>
            <a:br>
              <a:rPr lang="en-US" dirty="0"/>
            </a:br>
            <a:r>
              <a:rPr lang="en-US" dirty="0"/>
              <a:t>The value of first quartile being 3062, does further strengthen above statement. </a:t>
            </a:r>
            <a:br>
              <a:rPr lang="en-US" dirty="0"/>
            </a:br>
            <a:br>
              <a:rPr lang="en-US" dirty="0"/>
            </a:br>
            <a:r>
              <a:rPr lang="en-US" dirty="0"/>
              <a:t>Min. and Max. says the least weight 1559lb and the maximum weight 4990lb of newborn baby in the dataset. This gives us an idea of the range of the data points in our data set, how it is spread. </a:t>
            </a:r>
            <a:endParaRPr lang="en-IN" dirty="0"/>
          </a:p>
        </p:txBody>
      </p:sp>
    </p:spTree>
    <p:extLst>
      <p:ext uri="{BB962C8B-B14F-4D97-AF65-F5344CB8AC3E}">
        <p14:creationId xmlns:p14="http://schemas.microsoft.com/office/powerpoint/2010/main" val="607366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DEE17-262D-A7D8-7F56-C6FDE142D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23880-0544-4C46-3643-81AB8FFD85D0}"/>
              </a:ext>
            </a:extLst>
          </p:cNvPr>
          <p:cNvSpPr>
            <a:spLocks noGrp="1"/>
          </p:cNvSpPr>
          <p:nvPr>
            <p:ph type="title"/>
          </p:nvPr>
        </p:nvSpPr>
        <p:spPr/>
        <p:txBody>
          <a:bodyPr/>
          <a:lstStyle/>
          <a:p>
            <a:r>
              <a:rPr lang="en-IN" dirty="0"/>
              <a:t>2. Basic Descriptive Statistics</a:t>
            </a:r>
          </a:p>
        </p:txBody>
      </p:sp>
      <p:sp>
        <p:nvSpPr>
          <p:cNvPr id="3" name="Content Placeholder 2">
            <a:extLst>
              <a:ext uri="{FF2B5EF4-FFF2-40B4-BE49-F238E27FC236}">
                <a16:creationId xmlns:a16="http://schemas.microsoft.com/office/drawing/2014/main" id="{2AE6B40A-B107-52DE-DB5B-416A40D9F75A}"/>
              </a:ext>
            </a:extLst>
          </p:cNvPr>
          <p:cNvSpPr>
            <a:spLocks noGrp="1"/>
          </p:cNvSpPr>
          <p:nvPr>
            <p:ph idx="1"/>
          </p:nvPr>
        </p:nvSpPr>
        <p:spPr>
          <a:xfrm>
            <a:off x="288757" y="1379620"/>
            <a:ext cx="11774905" cy="5309937"/>
          </a:xfrm>
        </p:spPr>
        <p:txBody>
          <a:bodyPr>
            <a:normAutofit/>
          </a:bodyPr>
          <a:lstStyle/>
          <a:p>
            <a:pPr marL="0" indent="0">
              <a:lnSpc>
                <a:spcPct val="120000"/>
              </a:lnSpc>
              <a:buNone/>
            </a:pPr>
            <a:r>
              <a:rPr lang="en-US" sz="1400" dirty="0"/>
              <a:t>2. </a:t>
            </a:r>
            <a:r>
              <a:rPr lang="en-US" sz="1400" u="sng" dirty="0"/>
              <a:t>For Gestation:</a:t>
            </a:r>
            <a:br>
              <a:rPr lang="en-US" sz="1400" dirty="0"/>
            </a:br>
            <a:r>
              <a:rPr lang="en-US" sz="1400" dirty="0"/>
              <a:t>The basic descriptive statistics derived from analytics for gestation says that the average gestation period is 279.1. It gives us an idea that the average gestation time-period for pregnant mothers was 279.1 days. </a:t>
            </a:r>
            <a:br>
              <a:rPr lang="en-US" sz="1400" dirty="0"/>
            </a:br>
            <a:r>
              <a:rPr lang="en-US" sz="1400" dirty="0"/>
              <a:t>Min. and Max. says the least time taken for gestation is 184 days while the most time taken by pregnant mother from our dataset for gestation is 353 days. This gives us an idea of the range of the data points in our data set, how it is spread. </a:t>
            </a:r>
            <a:br>
              <a:rPr lang="en-US" sz="1400" dirty="0"/>
            </a:br>
            <a:br>
              <a:rPr lang="en-US" sz="1400" dirty="0"/>
            </a:br>
            <a:r>
              <a:rPr lang="en-US" sz="1400" dirty="0"/>
              <a:t>3. </a:t>
            </a:r>
            <a:r>
              <a:rPr lang="en-US" sz="1400" u="sng" dirty="0"/>
              <a:t>For Age: </a:t>
            </a:r>
            <a:br>
              <a:rPr lang="en-US" sz="1400" u="sng" dirty="0"/>
            </a:br>
            <a:r>
              <a:rPr lang="en-US" sz="1400" dirty="0"/>
              <a:t>The average age of mothers at which they got pregnant is 27.33 years old. </a:t>
            </a:r>
            <a:br>
              <a:rPr lang="en-US" sz="1400" dirty="0"/>
            </a:br>
            <a:r>
              <a:rPr lang="en-US" sz="1400" dirty="0"/>
              <a:t>The age group of mothers in our dataset range from 14 years of age (the minimum) till 46 years of age (the maximum). </a:t>
            </a:r>
            <a:br>
              <a:rPr lang="en-US" sz="1400" dirty="0"/>
            </a:br>
            <a:br>
              <a:rPr lang="en-US" sz="1400" dirty="0"/>
            </a:br>
            <a:r>
              <a:rPr lang="en-US" sz="1400" dirty="0"/>
              <a:t>4. </a:t>
            </a:r>
            <a:r>
              <a:rPr lang="en-US" sz="1400" u="sng" dirty="0"/>
              <a:t>For Height:</a:t>
            </a:r>
            <a:br>
              <a:rPr lang="en-US" sz="1400" u="sng" dirty="0"/>
            </a:br>
            <a:r>
              <a:rPr lang="en-US" sz="1400" dirty="0"/>
              <a:t>The average height of mothers in our dataset is 162.7 </a:t>
            </a:r>
            <a:r>
              <a:rPr lang="en-US" sz="1400" dirty="0" err="1"/>
              <a:t>cms</a:t>
            </a:r>
            <a:r>
              <a:rPr lang="en-US" sz="1400" dirty="0"/>
              <a:t>, 135 </a:t>
            </a:r>
            <a:r>
              <a:rPr lang="en-US" sz="1400" dirty="0" err="1"/>
              <a:t>cms</a:t>
            </a:r>
            <a:r>
              <a:rPr lang="en-US" sz="1400" dirty="0"/>
              <a:t> being the smallest height value in the dataset and 183 being the tallest mother. </a:t>
            </a:r>
            <a:br>
              <a:rPr lang="en-US" sz="1400" dirty="0"/>
            </a:br>
            <a:br>
              <a:rPr lang="en-US" sz="1400" dirty="0"/>
            </a:br>
            <a:r>
              <a:rPr lang="en-US" sz="1400" dirty="0"/>
              <a:t>5. </a:t>
            </a:r>
            <a:r>
              <a:rPr lang="en-US" sz="1400" u="sng" dirty="0"/>
              <a:t>For weight of mothers:</a:t>
            </a:r>
            <a:br>
              <a:rPr lang="en-US" sz="1400" dirty="0"/>
            </a:br>
            <a:r>
              <a:rPr lang="en-US" sz="1400" dirty="0"/>
              <a:t>The average weight of pregnant mothers is 58.28, stating that the majority of data points regarding the age of mother lie around the mean. The median being 56.70 further strengthens the preceding statement. </a:t>
            </a:r>
            <a:br>
              <a:rPr lang="en-US" sz="1400" dirty="0"/>
            </a:br>
            <a:r>
              <a:rPr lang="en-US" sz="1400" dirty="0"/>
              <a:t>The range of weight within which the weights of mother fall between in our dataset is between 39.50 and 113.40. </a:t>
            </a:r>
            <a:br>
              <a:rPr lang="en-US" sz="1400" dirty="0"/>
            </a:br>
            <a:br>
              <a:rPr lang="en-US" sz="1400" dirty="0"/>
            </a:br>
            <a:r>
              <a:rPr lang="en-US" sz="1400" dirty="0"/>
              <a:t>6. </a:t>
            </a:r>
            <a:r>
              <a:rPr lang="en-US" sz="1400" u="sng" dirty="0"/>
              <a:t>Smoking habits</a:t>
            </a:r>
            <a:r>
              <a:rPr lang="en-US" sz="1400" dirty="0"/>
              <a:t>:</a:t>
            </a:r>
            <a:br>
              <a:rPr lang="en-US" sz="1400" dirty="0"/>
            </a:br>
            <a:r>
              <a:rPr lang="en-US" sz="1400" dirty="0"/>
              <a:t>The average of categorical variable smoking habit is 0.391 which translate into 39% of all the mothers in our dataset are smokers. </a:t>
            </a:r>
            <a:endParaRPr lang="en-IN" sz="1400" dirty="0"/>
          </a:p>
        </p:txBody>
      </p:sp>
    </p:spTree>
    <p:extLst>
      <p:ext uri="{BB962C8B-B14F-4D97-AF65-F5344CB8AC3E}">
        <p14:creationId xmlns:p14="http://schemas.microsoft.com/office/powerpoint/2010/main" val="4240426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58E6B-74CB-C8AA-0F28-7382F650ED2B}"/>
              </a:ext>
            </a:extLst>
          </p:cNvPr>
          <p:cNvSpPr>
            <a:spLocks noGrp="1"/>
          </p:cNvSpPr>
          <p:nvPr>
            <p:ph type="title"/>
          </p:nvPr>
        </p:nvSpPr>
        <p:spPr>
          <a:xfrm>
            <a:off x="838200" y="156578"/>
            <a:ext cx="10515600" cy="1325563"/>
          </a:xfrm>
        </p:spPr>
        <p:txBody>
          <a:bodyPr/>
          <a:lstStyle/>
          <a:p>
            <a:r>
              <a:rPr lang="en-IN" dirty="0"/>
              <a:t>2. Basic Descriptive Statistics</a:t>
            </a:r>
          </a:p>
        </p:txBody>
      </p:sp>
      <p:pic>
        <p:nvPicPr>
          <p:cNvPr id="6" name="Picture 5">
            <a:extLst>
              <a:ext uri="{FF2B5EF4-FFF2-40B4-BE49-F238E27FC236}">
                <a16:creationId xmlns:a16="http://schemas.microsoft.com/office/drawing/2014/main" id="{8F480514-5156-4BEF-8E8D-7C7DFF72F5CF}"/>
              </a:ext>
            </a:extLst>
          </p:cNvPr>
          <p:cNvPicPr>
            <a:picLocks noChangeAspect="1"/>
          </p:cNvPicPr>
          <p:nvPr/>
        </p:nvPicPr>
        <p:blipFill>
          <a:blip r:embed="rId2"/>
          <a:stretch>
            <a:fillRect/>
          </a:stretch>
        </p:blipFill>
        <p:spPr>
          <a:xfrm>
            <a:off x="172726" y="1482141"/>
            <a:ext cx="7583890" cy="4792411"/>
          </a:xfrm>
          <a:prstGeom prst="rect">
            <a:avLst/>
          </a:prstGeom>
        </p:spPr>
      </p:pic>
      <p:sp>
        <p:nvSpPr>
          <p:cNvPr id="7" name="TextBox 6">
            <a:extLst>
              <a:ext uri="{FF2B5EF4-FFF2-40B4-BE49-F238E27FC236}">
                <a16:creationId xmlns:a16="http://schemas.microsoft.com/office/drawing/2014/main" id="{5C801D6B-D1D4-5598-0FE7-8334DECBB23B}"/>
              </a:ext>
            </a:extLst>
          </p:cNvPr>
          <p:cNvSpPr txBox="1"/>
          <p:nvPr/>
        </p:nvSpPr>
        <p:spPr>
          <a:xfrm>
            <a:off x="7972925" y="2498466"/>
            <a:ext cx="3785936" cy="2585323"/>
          </a:xfrm>
          <a:prstGeom prst="rect">
            <a:avLst/>
          </a:prstGeom>
          <a:noFill/>
        </p:spPr>
        <p:txBody>
          <a:bodyPr wrap="square" rtlCol="0">
            <a:spAutoFit/>
          </a:bodyPr>
          <a:lstStyle/>
          <a:p>
            <a:r>
              <a:rPr lang="en-US" dirty="0"/>
              <a:t>The histogram of shows the distribution of birth weights of newborn babies very vividly. </a:t>
            </a:r>
            <a:br>
              <a:rPr lang="en-US" dirty="0"/>
            </a:br>
            <a:br>
              <a:rPr lang="en-US" dirty="0"/>
            </a:br>
            <a:r>
              <a:rPr lang="en-US" dirty="0"/>
              <a:t>I have highlighted the portion of graph where the majority of data points are concentrated and that is our mean 3387. </a:t>
            </a:r>
            <a:br>
              <a:rPr lang="en-US" dirty="0"/>
            </a:br>
            <a:endParaRPr lang="en-IN"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6103F256-4DD5-CD6D-53C1-A73D05EA4ADE}"/>
                  </a:ext>
                </a:extLst>
              </p14:cNvPr>
              <p14:cNvContentPartPr/>
              <p14:nvPr/>
            </p14:nvContentPartPr>
            <p14:xfrm>
              <a:off x="4327251" y="1694848"/>
              <a:ext cx="839160" cy="4192560"/>
            </p14:xfrm>
          </p:contentPart>
        </mc:Choice>
        <mc:Fallback xmlns="">
          <p:pic>
            <p:nvPicPr>
              <p:cNvPr id="10" name="Ink 9">
                <a:extLst>
                  <a:ext uri="{FF2B5EF4-FFF2-40B4-BE49-F238E27FC236}">
                    <a16:creationId xmlns:a16="http://schemas.microsoft.com/office/drawing/2014/main" id="{6103F256-4DD5-CD6D-53C1-A73D05EA4ADE}"/>
                  </a:ext>
                </a:extLst>
              </p:cNvPr>
              <p:cNvPicPr/>
              <p:nvPr/>
            </p:nvPicPr>
            <p:blipFill>
              <a:blip r:embed="rId4"/>
              <a:stretch>
                <a:fillRect/>
              </a:stretch>
            </p:blipFill>
            <p:spPr>
              <a:xfrm>
                <a:off x="4321131" y="1688728"/>
                <a:ext cx="851400" cy="4204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5CFD4D5F-525A-06DF-F85F-DF6EC09A29DE}"/>
                  </a:ext>
                </a:extLst>
              </p14:cNvPr>
              <p14:cNvContentPartPr/>
              <p14:nvPr/>
            </p14:nvContentPartPr>
            <p14:xfrm>
              <a:off x="10683771" y="2502531"/>
              <a:ext cx="360" cy="360"/>
            </p14:xfrm>
          </p:contentPart>
        </mc:Choice>
        <mc:Fallback xmlns="">
          <p:pic>
            <p:nvPicPr>
              <p:cNvPr id="11" name="Ink 10">
                <a:extLst>
                  <a:ext uri="{FF2B5EF4-FFF2-40B4-BE49-F238E27FC236}">
                    <a16:creationId xmlns:a16="http://schemas.microsoft.com/office/drawing/2014/main" id="{5CFD4D5F-525A-06DF-F85F-DF6EC09A29DE}"/>
                  </a:ext>
                </a:extLst>
              </p:cNvPr>
              <p:cNvPicPr/>
              <p:nvPr/>
            </p:nvPicPr>
            <p:blipFill>
              <a:blip r:embed="rId6"/>
              <a:stretch>
                <a:fillRect/>
              </a:stretch>
            </p:blipFill>
            <p:spPr>
              <a:xfrm>
                <a:off x="10677651" y="2496411"/>
                <a:ext cx="12600" cy="12600"/>
              </a:xfrm>
              <a:prstGeom prst="rect">
                <a:avLst/>
              </a:prstGeom>
            </p:spPr>
          </p:pic>
        </mc:Fallback>
      </mc:AlternateContent>
    </p:spTree>
    <p:extLst>
      <p:ext uri="{BB962C8B-B14F-4D97-AF65-F5344CB8AC3E}">
        <p14:creationId xmlns:p14="http://schemas.microsoft.com/office/powerpoint/2010/main" val="1889888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0108-E46C-14DF-E0AA-DCC28B76B90B}"/>
              </a:ext>
            </a:extLst>
          </p:cNvPr>
          <p:cNvSpPr>
            <a:spLocks noGrp="1"/>
          </p:cNvSpPr>
          <p:nvPr>
            <p:ph type="title"/>
          </p:nvPr>
        </p:nvSpPr>
        <p:spPr/>
        <p:txBody>
          <a:bodyPr/>
          <a:lstStyle/>
          <a:p>
            <a:r>
              <a:rPr lang="en-IN" dirty="0"/>
              <a:t>2. Basic Descriptive Statistics</a:t>
            </a:r>
          </a:p>
        </p:txBody>
      </p:sp>
      <p:pic>
        <p:nvPicPr>
          <p:cNvPr id="8" name="Content Placeholder 7">
            <a:extLst>
              <a:ext uri="{FF2B5EF4-FFF2-40B4-BE49-F238E27FC236}">
                <a16:creationId xmlns:a16="http://schemas.microsoft.com/office/drawing/2014/main" id="{434B28CF-B451-5CC6-F52B-CE0D2A1D79E5}"/>
              </a:ext>
            </a:extLst>
          </p:cNvPr>
          <p:cNvPicPr>
            <a:picLocks noGrp="1" noChangeAspect="1"/>
          </p:cNvPicPr>
          <p:nvPr>
            <p:ph idx="1"/>
          </p:nvPr>
        </p:nvPicPr>
        <p:blipFill>
          <a:blip r:embed="rId2"/>
          <a:stretch>
            <a:fillRect/>
          </a:stretch>
        </p:blipFill>
        <p:spPr>
          <a:xfrm>
            <a:off x="514295" y="1523999"/>
            <a:ext cx="7490716" cy="4968875"/>
          </a:xfrm>
          <a:prstGeom prst="rect">
            <a:avLst/>
          </a:prstGeom>
        </p:spPr>
      </p:pic>
      <p:sp>
        <p:nvSpPr>
          <p:cNvPr id="9" name="TextBox 8">
            <a:extLst>
              <a:ext uri="{FF2B5EF4-FFF2-40B4-BE49-F238E27FC236}">
                <a16:creationId xmlns:a16="http://schemas.microsoft.com/office/drawing/2014/main" id="{F47484E3-D8C8-9165-EBA7-9CC2DFE698B2}"/>
              </a:ext>
            </a:extLst>
          </p:cNvPr>
          <p:cNvSpPr txBox="1"/>
          <p:nvPr/>
        </p:nvSpPr>
        <p:spPr>
          <a:xfrm>
            <a:off x="8005011" y="2057443"/>
            <a:ext cx="3785936" cy="3139321"/>
          </a:xfrm>
          <a:prstGeom prst="rect">
            <a:avLst/>
          </a:prstGeom>
          <a:noFill/>
        </p:spPr>
        <p:txBody>
          <a:bodyPr wrap="square" rtlCol="0">
            <a:spAutoFit/>
          </a:bodyPr>
          <a:lstStyle/>
          <a:p>
            <a:r>
              <a:rPr lang="en-US" dirty="0"/>
              <a:t>The histogram shows the correlation of mother being a smoker or a nonsmoker with the weight of newborn babies at the time of birth. </a:t>
            </a:r>
            <a:br>
              <a:rPr lang="en-US" dirty="0"/>
            </a:br>
            <a:br>
              <a:rPr lang="en-US" dirty="0"/>
            </a:br>
            <a:r>
              <a:rPr lang="en-US" dirty="0"/>
              <a:t>We can clearly see that lighter weights of newborn babies is associated with mothers being a smoker.  Here green depicts mother being a smoker and the linked birthweights of babies. </a:t>
            </a:r>
            <a:endParaRPr lang="en-IN"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0" name="Ink 9">
                <a:extLst>
                  <a:ext uri="{FF2B5EF4-FFF2-40B4-BE49-F238E27FC236}">
                    <a16:creationId xmlns:a16="http://schemas.microsoft.com/office/drawing/2014/main" id="{FBD1B78F-64F9-E5A5-B227-78F75C7B2987}"/>
                  </a:ext>
                </a:extLst>
              </p14:cNvPr>
              <p14:cNvContentPartPr/>
              <p14:nvPr/>
            </p14:nvContentPartPr>
            <p14:xfrm>
              <a:off x="342337" y="1828668"/>
              <a:ext cx="3159360" cy="1888920"/>
            </p14:xfrm>
          </p:contentPart>
        </mc:Choice>
        <mc:Fallback xmlns="">
          <p:pic>
            <p:nvPicPr>
              <p:cNvPr id="10" name="Ink 9">
                <a:extLst>
                  <a:ext uri="{FF2B5EF4-FFF2-40B4-BE49-F238E27FC236}">
                    <a16:creationId xmlns:a16="http://schemas.microsoft.com/office/drawing/2014/main" id="{FBD1B78F-64F9-E5A5-B227-78F75C7B2987}"/>
                  </a:ext>
                </a:extLst>
              </p:cNvPr>
              <p:cNvPicPr/>
              <p:nvPr/>
            </p:nvPicPr>
            <p:blipFill>
              <a:blip r:embed="rId4"/>
              <a:stretch>
                <a:fillRect/>
              </a:stretch>
            </p:blipFill>
            <p:spPr>
              <a:xfrm>
                <a:off x="333697" y="1819668"/>
                <a:ext cx="3177000" cy="190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1" name="Ink 10">
                <a:extLst>
                  <a:ext uri="{FF2B5EF4-FFF2-40B4-BE49-F238E27FC236}">
                    <a16:creationId xmlns:a16="http://schemas.microsoft.com/office/drawing/2014/main" id="{157523DB-CDC7-F621-BE14-1F2DC3378E11}"/>
                  </a:ext>
                </a:extLst>
              </p14:cNvPr>
              <p14:cNvContentPartPr/>
              <p14:nvPr/>
            </p14:nvContentPartPr>
            <p14:xfrm>
              <a:off x="351697" y="5014308"/>
              <a:ext cx="3524400" cy="1281960"/>
            </p14:xfrm>
          </p:contentPart>
        </mc:Choice>
        <mc:Fallback xmlns="">
          <p:pic>
            <p:nvPicPr>
              <p:cNvPr id="11" name="Ink 10">
                <a:extLst>
                  <a:ext uri="{FF2B5EF4-FFF2-40B4-BE49-F238E27FC236}">
                    <a16:creationId xmlns:a16="http://schemas.microsoft.com/office/drawing/2014/main" id="{157523DB-CDC7-F621-BE14-1F2DC3378E11}"/>
                  </a:ext>
                </a:extLst>
              </p:cNvPr>
              <p:cNvPicPr/>
              <p:nvPr/>
            </p:nvPicPr>
            <p:blipFill>
              <a:blip r:embed="rId6"/>
              <a:stretch>
                <a:fillRect/>
              </a:stretch>
            </p:blipFill>
            <p:spPr>
              <a:xfrm>
                <a:off x="343057" y="5005308"/>
                <a:ext cx="3542040" cy="1299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2" name="Ink 11">
                <a:extLst>
                  <a:ext uri="{FF2B5EF4-FFF2-40B4-BE49-F238E27FC236}">
                    <a16:creationId xmlns:a16="http://schemas.microsoft.com/office/drawing/2014/main" id="{863A80A3-4127-7713-E560-1A57430DBF11}"/>
                  </a:ext>
                </a:extLst>
              </p14:cNvPr>
              <p14:cNvContentPartPr/>
              <p14:nvPr/>
            </p14:nvContentPartPr>
            <p14:xfrm>
              <a:off x="4601137" y="4355148"/>
              <a:ext cx="2440080" cy="1771560"/>
            </p14:xfrm>
          </p:contentPart>
        </mc:Choice>
        <mc:Fallback xmlns="">
          <p:pic>
            <p:nvPicPr>
              <p:cNvPr id="12" name="Ink 11">
                <a:extLst>
                  <a:ext uri="{FF2B5EF4-FFF2-40B4-BE49-F238E27FC236}">
                    <a16:creationId xmlns:a16="http://schemas.microsoft.com/office/drawing/2014/main" id="{863A80A3-4127-7713-E560-1A57430DBF11}"/>
                  </a:ext>
                </a:extLst>
              </p:cNvPr>
              <p:cNvPicPr/>
              <p:nvPr/>
            </p:nvPicPr>
            <p:blipFill>
              <a:blip r:embed="rId8"/>
              <a:stretch>
                <a:fillRect/>
              </a:stretch>
            </p:blipFill>
            <p:spPr>
              <a:xfrm>
                <a:off x="4592497" y="4346148"/>
                <a:ext cx="2457720" cy="1789200"/>
              </a:xfrm>
              <a:prstGeom prst="rect">
                <a:avLst/>
              </a:prstGeom>
            </p:spPr>
          </p:pic>
        </mc:Fallback>
      </mc:AlternateContent>
      <p:grpSp>
        <p:nvGrpSpPr>
          <p:cNvPr id="15" name="Group 14">
            <a:extLst>
              <a:ext uri="{FF2B5EF4-FFF2-40B4-BE49-F238E27FC236}">
                <a16:creationId xmlns:a16="http://schemas.microsoft.com/office/drawing/2014/main" id="{A7BE853C-793A-6E30-088C-3D3C13ED9B52}"/>
              </a:ext>
            </a:extLst>
          </p:cNvPr>
          <p:cNvGrpSpPr/>
          <p:nvPr/>
        </p:nvGrpSpPr>
        <p:grpSpPr>
          <a:xfrm>
            <a:off x="2359417" y="3657468"/>
            <a:ext cx="532080" cy="1364400"/>
            <a:chOff x="2359417" y="3657468"/>
            <a:chExt cx="532080" cy="1364400"/>
          </a:xfrm>
        </p:grpSpPr>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3" name="Ink 12">
                  <a:extLst>
                    <a:ext uri="{FF2B5EF4-FFF2-40B4-BE49-F238E27FC236}">
                      <a16:creationId xmlns:a16="http://schemas.microsoft.com/office/drawing/2014/main" id="{803F77A9-BD12-F0E5-C0D5-37B439D94B06}"/>
                    </a:ext>
                  </a:extLst>
                </p14:cNvPr>
                <p14:cNvContentPartPr/>
                <p14:nvPr/>
              </p14:nvContentPartPr>
              <p14:xfrm>
                <a:off x="2418097" y="3657468"/>
                <a:ext cx="473400" cy="1364400"/>
              </p14:xfrm>
            </p:contentPart>
          </mc:Choice>
          <mc:Fallback xmlns="">
            <p:pic>
              <p:nvPicPr>
                <p:cNvPr id="13" name="Ink 12">
                  <a:extLst>
                    <a:ext uri="{FF2B5EF4-FFF2-40B4-BE49-F238E27FC236}">
                      <a16:creationId xmlns:a16="http://schemas.microsoft.com/office/drawing/2014/main" id="{803F77A9-BD12-F0E5-C0D5-37B439D94B06}"/>
                    </a:ext>
                  </a:extLst>
                </p:cNvPr>
                <p:cNvPicPr/>
                <p:nvPr/>
              </p:nvPicPr>
              <p:blipFill>
                <a:blip r:embed="rId10"/>
                <a:stretch>
                  <a:fillRect/>
                </a:stretch>
              </p:blipFill>
              <p:spPr>
                <a:xfrm>
                  <a:off x="2409457" y="3648468"/>
                  <a:ext cx="491040" cy="1382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4" name="Ink 13">
                  <a:extLst>
                    <a:ext uri="{FF2B5EF4-FFF2-40B4-BE49-F238E27FC236}">
                      <a16:creationId xmlns:a16="http://schemas.microsoft.com/office/drawing/2014/main" id="{6C64BEE2-A854-0BD7-4895-AA99C4BF0CF5}"/>
                    </a:ext>
                  </a:extLst>
                </p14:cNvPr>
                <p14:cNvContentPartPr/>
                <p14:nvPr/>
              </p14:nvContentPartPr>
              <p14:xfrm>
                <a:off x="2359417" y="3677268"/>
                <a:ext cx="346320" cy="318600"/>
              </p14:xfrm>
            </p:contentPart>
          </mc:Choice>
          <mc:Fallback xmlns="">
            <p:pic>
              <p:nvPicPr>
                <p:cNvPr id="14" name="Ink 13">
                  <a:extLst>
                    <a:ext uri="{FF2B5EF4-FFF2-40B4-BE49-F238E27FC236}">
                      <a16:creationId xmlns:a16="http://schemas.microsoft.com/office/drawing/2014/main" id="{6C64BEE2-A854-0BD7-4895-AA99C4BF0CF5}"/>
                    </a:ext>
                  </a:extLst>
                </p:cNvPr>
                <p:cNvPicPr/>
                <p:nvPr/>
              </p:nvPicPr>
              <p:blipFill>
                <a:blip r:embed="rId12"/>
                <a:stretch>
                  <a:fillRect/>
                </a:stretch>
              </p:blipFill>
              <p:spPr>
                <a:xfrm>
                  <a:off x="2350777" y="3668628"/>
                  <a:ext cx="363960" cy="3362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6" name="Ink 15">
                <a:extLst>
                  <a:ext uri="{FF2B5EF4-FFF2-40B4-BE49-F238E27FC236}">
                    <a16:creationId xmlns:a16="http://schemas.microsoft.com/office/drawing/2014/main" id="{9F7E915C-2CCB-36B1-7931-27C9641F12BB}"/>
                  </a:ext>
                </a:extLst>
              </p14:cNvPr>
              <p14:cNvContentPartPr/>
              <p14:nvPr/>
            </p14:nvContentPartPr>
            <p14:xfrm>
              <a:off x="361417" y="5362068"/>
              <a:ext cx="5038560" cy="1640160"/>
            </p14:xfrm>
          </p:contentPart>
        </mc:Choice>
        <mc:Fallback xmlns="">
          <p:pic>
            <p:nvPicPr>
              <p:cNvPr id="16" name="Ink 15">
                <a:extLst>
                  <a:ext uri="{FF2B5EF4-FFF2-40B4-BE49-F238E27FC236}">
                    <a16:creationId xmlns:a16="http://schemas.microsoft.com/office/drawing/2014/main" id="{9F7E915C-2CCB-36B1-7931-27C9641F12BB}"/>
                  </a:ext>
                </a:extLst>
              </p:cNvPr>
              <p:cNvPicPr/>
              <p:nvPr/>
            </p:nvPicPr>
            <p:blipFill>
              <a:blip r:embed="rId14"/>
              <a:stretch>
                <a:fillRect/>
              </a:stretch>
            </p:blipFill>
            <p:spPr>
              <a:xfrm>
                <a:off x="352777" y="5353068"/>
                <a:ext cx="5056200" cy="1657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7" name="Ink 16">
                <a:extLst>
                  <a:ext uri="{FF2B5EF4-FFF2-40B4-BE49-F238E27FC236}">
                    <a16:creationId xmlns:a16="http://schemas.microsoft.com/office/drawing/2014/main" id="{6B5B7771-F932-16BD-88D5-2EB315387447}"/>
                  </a:ext>
                </a:extLst>
              </p14:cNvPr>
              <p14:cNvContentPartPr/>
              <p14:nvPr/>
            </p14:nvContentPartPr>
            <p14:xfrm>
              <a:off x="7010257" y="3749830"/>
              <a:ext cx="552240" cy="1412280"/>
            </p14:xfrm>
          </p:contentPart>
        </mc:Choice>
        <mc:Fallback xmlns="">
          <p:pic>
            <p:nvPicPr>
              <p:cNvPr id="17" name="Ink 16">
                <a:extLst>
                  <a:ext uri="{FF2B5EF4-FFF2-40B4-BE49-F238E27FC236}">
                    <a16:creationId xmlns:a16="http://schemas.microsoft.com/office/drawing/2014/main" id="{6B5B7771-F932-16BD-88D5-2EB315387447}"/>
                  </a:ext>
                </a:extLst>
              </p:cNvPr>
              <p:cNvPicPr/>
              <p:nvPr/>
            </p:nvPicPr>
            <p:blipFill>
              <a:blip r:embed="rId16"/>
              <a:stretch>
                <a:fillRect/>
              </a:stretch>
            </p:blipFill>
            <p:spPr>
              <a:xfrm>
                <a:off x="7001257" y="3741190"/>
                <a:ext cx="569880" cy="1429920"/>
              </a:xfrm>
              <a:prstGeom prst="rect">
                <a:avLst/>
              </a:prstGeom>
            </p:spPr>
          </p:pic>
        </mc:Fallback>
      </mc:AlternateContent>
    </p:spTree>
    <p:extLst>
      <p:ext uri="{BB962C8B-B14F-4D97-AF65-F5344CB8AC3E}">
        <p14:creationId xmlns:p14="http://schemas.microsoft.com/office/powerpoint/2010/main" val="766829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263F6-3A7E-5E45-25E6-931DFBAADF43}"/>
              </a:ext>
            </a:extLst>
          </p:cNvPr>
          <p:cNvSpPr>
            <a:spLocks noGrp="1"/>
          </p:cNvSpPr>
          <p:nvPr>
            <p:ph type="title"/>
          </p:nvPr>
        </p:nvSpPr>
        <p:spPr>
          <a:xfrm>
            <a:off x="838200" y="365126"/>
            <a:ext cx="10515600" cy="971306"/>
          </a:xfrm>
        </p:spPr>
        <p:txBody>
          <a:bodyPr/>
          <a:lstStyle/>
          <a:p>
            <a:r>
              <a:rPr lang="en-US" dirty="0"/>
              <a:t>3. Two tailed T-test results </a:t>
            </a:r>
            <a:endParaRPr lang="en-IN" dirty="0"/>
          </a:p>
        </p:txBody>
      </p:sp>
      <p:sp>
        <p:nvSpPr>
          <p:cNvPr id="3" name="Content Placeholder 2">
            <a:extLst>
              <a:ext uri="{FF2B5EF4-FFF2-40B4-BE49-F238E27FC236}">
                <a16:creationId xmlns:a16="http://schemas.microsoft.com/office/drawing/2014/main" id="{EA84EDFB-BD14-F8A1-EBCF-B52CF1825E71}"/>
              </a:ext>
            </a:extLst>
          </p:cNvPr>
          <p:cNvSpPr>
            <a:spLocks noGrp="1"/>
          </p:cNvSpPr>
          <p:nvPr>
            <p:ph idx="1"/>
          </p:nvPr>
        </p:nvSpPr>
        <p:spPr>
          <a:xfrm>
            <a:off x="245347" y="1336431"/>
            <a:ext cx="6986427" cy="5395965"/>
          </a:xfrm>
        </p:spPr>
        <p:txBody>
          <a:bodyPr>
            <a:normAutofit fontScale="92500" lnSpcReduction="10000"/>
          </a:bodyPr>
          <a:lstStyle/>
          <a:p>
            <a:r>
              <a:rPr lang="en-US" sz="2200" u="sng" dirty="0"/>
              <a:t>Hypothesis:</a:t>
            </a:r>
          </a:p>
          <a:p>
            <a:pPr marL="0" indent="0">
              <a:buNone/>
            </a:pPr>
            <a:r>
              <a:rPr lang="en-US" sz="2200" dirty="0"/>
              <a:t>H0 -&gt; null hypothesis = 3400 -&gt;The average birth weight of newborn babies is 3400lb. </a:t>
            </a:r>
            <a:br>
              <a:rPr lang="en-US" sz="2200" dirty="0"/>
            </a:br>
            <a:r>
              <a:rPr lang="en-US" sz="2200" dirty="0"/>
              <a:t>H1 -&gt; alternate hypothesis ≠ 3400 -&gt; The average birth weight of newborn babies is NOT 3400lb. </a:t>
            </a:r>
          </a:p>
          <a:p>
            <a:pPr marL="0" indent="0">
              <a:buNone/>
            </a:pPr>
            <a:endParaRPr lang="en-US" sz="2200" dirty="0"/>
          </a:p>
          <a:p>
            <a:r>
              <a:rPr lang="en-US" sz="2200" u="sng" dirty="0"/>
              <a:t>Results:</a:t>
            </a:r>
          </a:p>
          <a:p>
            <a:pPr marL="0" indent="0">
              <a:buNone/>
            </a:pPr>
            <a:r>
              <a:rPr lang="en-US" sz="2200" dirty="0"/>
              <a:t>Since we are checking whether the mean is equal to   3400 or not, the dataset will be tested as two tailed t-test.  </a:t>
            </a:r>
            <a:br>
              <a:rPr lang="en-US" sz="2200" dirty="0"/>
            </a:br>
            <a:br>
              <a:rPr lang="en-US" sz="2200" dirty="0"/>
            </a:br>
            <a:r>
              <a:rPr lang="en-US" sz="2200" dirty="0"/>
              <a:t>The results give us a p-value of 0.3838 which is less than the confidence level alpha = 0.5. Therefore, we reject the null. Thus, we can conclude that the mean of birth weights of newborn babies is not equal to 3400lb. </a:t>
            </a:r>
            <a:br>
              <a:rPr lang="en-US" sz="2200" dirty="0"/>
            </a:br>
            <a:br>
              <a:rPr lang="en-US" sz="2200" dirty="0"/>
            </a:br>
            <a:r>
              <a:rPr lang="en-US" sz="2200" dirty="0"/>
              <a:t>We can also support the above results from the descriptive statistics results that we obtained before which does state that the mean = 3387lb. </a:t>
            </a:r>
            <a:br>
              <a:rPr lang="en-US" u="sng" dirty="0"/>
            </a:br>
            <a:endParaRPr lang="en-US" u="sng" dirty="0"/>
          </a:p>
          <a:p>
            <a:endParaRPr lang="en-IN" dirty="0"/>
          </a:p>
        </p:txBody>
      </p:sp>
      <p:pic>
        <p:nvPicPr>
          <p:cNvPr id="5" name="Picture 4">
            <a:extLst>
              <a:ext uri="{FF2B5EF4-FFF2-40B4-BE49-F238E27FC236}">
                <a16:creationId xmlns:a16="http://schemas.microsoft.com/office/drawing/2014/main" id="{A27931FF-A7D0-E856-42C9-09F91D830433}"/>
              </a:ext>
            </a:extLst>
          </p:cNvPr>
          <p:cNvPicPr>
            <a:picLocks noChangeAspect="1"/>
          </p:cNvPicPr>
          <p:nvPr/>
        </p:nvPicPr>
        <p:blipFill>
          <a:blip r:embed="rId2"/>
          <a:stretch>
            <a:fillRect/>
          </a:stretch>
        </p:blipFill>
        <p:spPr>
          <a:xfrm>
            <a:off x="7231774" y="1469624"/>
            <a:ext cx="4826163" cy="2064622"/>
          </a:xfrm>
          <a:prstGeom prst="rect">
            <a:avLst/>
          </a:prstGeom>
        </p:spPr>
      </p:pic>
    </p:spTree>
    <p:extLst>
      <p:ext uri="{BB962C8B-B14F-4D97-AF65-F5344CB8AC3E}">
        <p14:creationId xmlns:p14="http://schemas.microsoft.com/office/powerpoint/2010/main" val="179575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54DF4-C827-8BB3-7248-0E3067959498}"/>
              </a:ext>
            </a:extLst>
          </p:cNvPr>
          <p:cNvSpPr>
            <a:spLocks noGrp="1"/>
          </p:cNvSpPr>
          <p:nvPr>
            <p:ph type="title"/>
          </p:nvPr>
        </p:nvSpPr>
        <p:spPr/>
        <p:txBody>
          <a:bodyPr/>
          <a:lstStyle/>
          <a:p>
            <a:r>
              <a:rPr lang="en-US" dirty="0"/>
              <a:t>4. Simple linear regression – Scatter Plot</a:t>
            </a:r>
            <a:endParaRPr lang="en-IN" dirty="0"/>
          </a:p>
        </p:txBody>
      </p:sp>
      <p:pic>
        <p:nvPicPr>
          <p:cNvPr id="5" name="Content Placeholder 4">
            <a:extLst>
              <a:ext uri="{FF2B5EF4-FFF2-40B4-BE49-F238E27FC236}">
                <a16:creationId xmlns:a16="http://schemas.microsoft.com/office/drawing/2014/main" id="{4218B5AB-2E64-851C-31D4-C0C4C9A73342}"/>
              </a:ext>
            </a:extLst>
          </p:cNvPr>
          <p:cNvPicPr>
            <a:picLocks noGrp="1" noChangeAspect="1"/>
          </p:cNvPicPr>
          <p:nvPr>
            <p:ph idx="1"/>
          </p:nvPr>
        </p:nvPicPr>
        <p:blipFill>
          <a:blip r:embed="rId2"/>
          <a:stretch>
            <a:fillRect/>
          </a:stretch>
        </p:blipFill>
        <p:spPr>
          <a:xfrm>
            <a:off x="201645" y="1294682"/>
            <a:ext cx="8568729" cy="5401086"/>
          </a:xfrm>
          <a:prstGeom prst="rect">
            <a:avLst/>
          </a:prstGeom>
        </p:spPr>
      </p:pic>
      <p:sp>
        <p:nvSpPr>
          <p:cNvPr id="6" name="TextBox 5">
            <a:extLst>
              <a:ext uri="{FF2B5EF4-FFF2-40B4-BE49-F238E27FC236}">
                <a16:creationId xmlns:a16="http://schemas.microsoft.com/office/drawing/2014/main" id="{C7FCBB9B-E233-D283-DA30-EEEE963753BC}"/>
              </a:ext>
            </a:extLst>
          </p:cNvPr>
          <p:cNvSpPr txBox="1"/>
          <p:nvPr/>
        </p:nvSpPr>
        <p:spPr>
          <a:xfrm>
            <a:off x="8770374" y="1820654"/>
            <a:ext cx="3048127" cy="1754326"/>
          </a:xfrm>
          <a:prstGeom prst="rect">
            <a:avLst/>
          </a:prstGeom>
          <a:noFill/>
        </p:spPr>
        <p:txBody>
          <a:bodyPr wrap="square" rtlCol="0">
            <a:spAutoFit/>
          </a:bodyPr>
          <a:lstStyle/>
          <a:p>
            <a:r>
              <a:rPr lang="en-US" dirty="0"/>
              <a:t>Both groups (smokers and non-smokers) have similar ranges of birth weights, but the graph does not clearly show if smoking affects birth weight.</a:t>
            </a:r>
            <a:endParaRPr lang="en-IN" dirty="0"/>
          </a:p>
        </p:txBody>
      </p:sp>
    </p:spTree>
    <p:extLst>
      <p:ext uri="{BB962C8B-B14F-4D97-AF65-F5344CB8AC3E}">
        <p14:creationId xmlns:p14="http://schemas.microsoft.com/office/powerpoint/2010/main" val="362255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7B6C1-1591-BB46-31FA-5AD0B7E31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BBE03-0455-9C98-D424-C0B68ACBCB3F}"/>
              </a:ext>
            </a:extLst>
          </p:cNvPr>
          <p:cNvSpPr>
            <a:spLocks noGrp="1"/>
          </p:cNvSpPr>
          <p:nvPr>
            <p:ph type="title"/>
          </p:nvPr>
        </p:nvSpPr>
        <p:spPr/>
        <p:txBody>
          <a:bodyPr>
            <a:normAutofit/>
          </a:bodyPr>
          <a:lstStyle/>
          <a:p>
            <a:r>
              <a:rPr lang="en-US" dirty="0"/>
              <a:t>4. Simple linear regression – Box Plot </a:t>
            </a:r>
            <a:br>
              <a:rPr lang="en-US" dirty="0"/>
            </a:br>
            <a:r>
              <a:rPr lang="en-US" sz="2000" dirty="0"/>
              <a:t>(For better explanation of relation between mother being smoker and birth weights)</a:t>
            </a:r>
            <a:endParaRPr lang="en-IN" dirty="0"/>
          </a:p>
        </p:txBody>
      </p:sp>
      <p:sp>
        <p:nvSpPr>
          <p:cNvPr id="6" name="TextBox 5">
            <a:extLst>
              <a:ext uri="{FF2B5EF4-FFF2-40B4-BE49-F238E27FC236}">
                <a16:creationId xmlns:a16="http://schemas.microsoft.com/office/drawing/2014/main" id="{52FAA3AF-9518-3C80-0620-A4B64000AFB4}"/>
              </a:ext>
            </a:extLst>
          </p:cNvPr>
          <p:cNvSpPr txBox="1"/>
          <p:nvPr/>
        </p:nvSpPr>
        <p:spPr>
          <a:xfrm>
            <a:off x="8770374" y="1820654"/>
            <a:ext cx="3048127" cy="4801314"/>
          </a:xfrm>
          <a:prstGeom prst="rect">
            <a:avLst/>
          </a:prstGeom>
          <a:noFill/>
        </p:spPr>
        <p:txBody>
          <a:bodyPr wrap="square" rtlCol="0">
            <a:spAutoFit/>
          </a:bodyPr>
          <a:lstStyle/>
          <a:p>
            <a:r>
              <a:rPr lang="en-US" dirty="0"/>
              <a:t>Non-smokers generally shows higher median birth weights and greater variability, while smokers show lower median weights with less variability.</a:t>
            </a:r>
            <a:br>
              <a:rPr lang="en-US" dirty="0"/>
            </a:br>
            <a:br>
              <a:rPr lang="en-US" dirty="0"/>
            </a:br>
            <a:r>
              <a:rPr lang="en-US" dirty="0"/>
              <a:t>Outliers are present for both groups, with smokers having more on the lower end. This suggests an association between smoking during pregnancy and lower birth weights. This can further be backed by the second histogram mentioned in this report. </a:t>
            </a:r>
            <a:endParaRPr lang="en-IN" dirty="0"/>
          </a:p>
        </p:txBody>
      </p:sp>
      <p:pic>
        <p:nvPicPr>
          <p:cNvPr id="8" name="Picture 7">
            <a:extLst>
              <a:ext uri="{FF2B5EF4-FFF2-40B4-BE49-F238E27FC236}">
                <a16:creationId xmlns:a16="http://schemas.microsoft.com/office/drawing/2014/main" id="{6E3278BC-B6D6-B4C4-A41F-C16FAAC2643D}"/>
              </a:ext>
            </a:extLst>
          </p:cNvPr>
          <p:cNvPicPr>
            <a:picLocks noChangeAspect="1"/>
          </p:cNvPicPr>
          <p:nvPr/>
        </p:nvPicPr>
        <p:blipFill>
          <a:blip r:embed="rId2"/>
          <a:stretch>
            <a:fillRect/>
          </a:stretch>
        </p:blipFill>
        <p:spPr>
          <a:xfrm>
            <a:off x="304673" y="1477142"/>
            <a:ext cx="8001000" cy="4867275"/>
          </a:xfrm>
          <a:prstGeom prst="rect">
            <a:avLst/>
          </a:prstGeom>
        </p:spPr>
      </p:pic>
    </p:spTree>
    <p:extLst>
      <p:ext uri="{BB962C8B-B14F-4D97-AF65-F5344CB8AC3E}">
        <p14:creationId xmlns:p14="http://schemas.microsoft.com/office/powerpoint/2010/main" val="612515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0BB3A-E35C-8E5B-0A53-79315B86536C}"/>
              </a:ext>
            </a:extLst>
          </p:cNvPr>
          <p:cNvSpPr>
            <a:spLocks noGrp="1"/>
          </p:cNvSpPr>
          <p:nvPr>
            <p:ph type="title"/>
          </p:nvPr>
        </p:nvSpPr>
        <p:spPr/>
        <p:txBody>
          <a:bodyPr/>
          <a:lstStyle/>
          <a:p>
            <a:r>
              <a:rPr lang="en-US" dirty="0"/>
              <a:t>4. Simple linear regression </a:t>
            </a:r>
            <a:endParaRPr lang="en-IN" dirty="0"/>
          </a:p>
        </p:txBody>
      </p:sp>
      <p:sp>
        <p:nvSpPr>
          <p:cNvPr id="3" name="Content Placeholder 2">
            <a:extLst>
              <a:ext uri="{FF2B5EF4-FFF2-40B4-BE49-F238E27FC236}">
                <a16:creationId xmlns:a16="http://schemas.microsoft.com/office/drawing/2014/main" id="{2DDA612B-AB48-1CE6-392F-A04B1C43E403}"/>
              </a:ext>
            </a:extLst>
          </p:cNvPr>
          <p:cNvSpPr>
            <a:spLocks noGrp="1"/>
          </p:cNvSpPr>
          <p:nvPr>
            <p:ph idx="1"/>
          </p:nvPr>
        </p:nvSpPr>
        <p:spPr>
          <a:xfrm>
            <a:off x="6894898" y="2387129"/>
            <a:ext cx="4913644" cy="4062124"/>
          </a:xfrm>
        </p:spPr>
        <p:txBody>
          <a:bodyPr>
            <a:normAutofit/>
          </a:bodyPr>
          <a:lstStyle/>
          <a:p>
            <a:r>
              <a:rPr lang="en-US" sz="1600" dirty="0"/>
              <a:t>The correlation between smoking status and birth weight is -0.247, which indicates a weak negative relationship. This means that as smoking increases (from non-smoker to smoker), birth weight tends to decrease slightly.</a:t>
            </a:r>
          </a:p>
          <a:p>
            <a:pPr marL="0" indent="0">
              <a:buNone/>
            </a:pPr>
            <a:endParaRPr lang="en-US" sz="1600" dirty="0"/>
          </a:p>
          <a:p>
            <a:r>
              <a:rPr lang="en-US" sz="1600" dirty="0"/>
              <a:t>The linear regression results show that smoking has a statistically significant effect on birth weight (p &lt; 0.001). The intercept (3489.49) represents the average birth weight (in grams) for non-smokers. The slope (-262.69) means that babies born to smokers weigh, on average, 262.69 grams less than those born to non-smokers. However, the model explains only 6% of the variation in birth weights (R-squared = 0.06091), suggesting that other factors also influence birth weight.</a:t>
            </a:r>
          </a:p>
          <a:p>
            <a:endParaRPr lang="en-IN" dirty="0"/>
          </a:p>
        </p:txBody>
      </p:sp>
      <p:pic>
        <p:nvPicPr>
          <p:cNvPr id="5" name="Picture 4">
            <a:extLst>
              <a:ext uri="{FF2B5EF4-FFF2-40B4-BE49-F238E27FC236}">
                <a16:creationId xmlns:a16="http://schemas.microsoft.com/office/drawing/2014/main" id="{8E4672A6-AE08-BECC-0907-348CD5A4D7CC}"/>
              </a:ext>
            </a:extLst>
          </p:cNvPr>
          <p:cNvPicPr>
            <a:picLocks noChangeAspect="1"/>
          </p:cNvPicPr>
          <p:nvPr/>
        </p:nvPicPr>
        <p:blipFill>
          <a:blip r:embed="rId2"/>
          <a:stretch>
            <a:fillRect/>
          </a:stretch>
        </p:blipFill>
        <p:spPr>
          <a:xfrm>
            <a:off x="244510" y="1562387"/>
            <a:ext cx="6625915" cy="5089622"/>
          </a:xfrm>
          <a:prstGeom prst="rect">
            <a:avLst/>
          </a:prstGeom>
        </p:spPr>
      </p:pic>
      <p:sp>
        <p:nvSpPr>
          <p:cNvPr id="6" name="TextBox 5">
            <a:extLst>
              <a:ext uri="{FF2B5EF4-FFF2-40B4-BE49-F238E27FC236}">
                <a16:creationId xmlns:a16="http://schemas.microsoft.com/office/drawing/2014/main" id="{908A9EB0-61FF-7BDD-4E85-B3F927605741}"/>
              </a:ext>
            </a:extLst>
          </p:cNvPr>
          <p:cNvSpPr txBox="1"/>
          <p:nvPr/>
        </p:nvSpPr>
        <p:spPr>
          <a:xfrm>
            <a:off x="7009373" y="1239221"/>
            <a:ext cx="4938117" cy="646331"/>
          </a:xfrm>
          <a:prstGeom prst="rect">
            <a:avLst/>
          </a:prstGeom>
          <a:noFill/>
        </p:spPr>
        <p:txBody>
          <a:bodyPr wrap="square" rtlCol="0">
            <a:spAutoFit/>
          </a:bodyPr>
          <a:lstStyle/>
          <a:p>
            <a:r>
              <a:rPr lang="en-US" dirty="0"/>
              <a:t>The equation:</a:t>
            </a:r>
            <a:br>
              <a:rPr lang="en-US" dirty="0"/>
            </a:br>
            <a:r>
              <a:rPr lang="en-US" dirty="0"/>
              <a:t>Y(</a:t>
            </a:r>
            <a:r>
              <a:rPr lang="en-US" dirty="0" err="1"/>
              <a:t>bwt</a:t>
            </a:r>
            <a:r>
              <a:rPr lang="en-US" dirty="0"/>
              <a:t>) = 3489.49 + (-262.69)*Smoker(X)</a:t>
            </a:r>
            <a:endParaRPr lang="en-IN" dirty="0"/>
          </a:p>
        </p:txBody>
      </p:sp>
    </p:spTree>
    <p:extLst>
      <p:ext uri="{BB962C8B-B14F-4D97-AF65-F5344CB8AC3E}">
        <p14:creationId xmlns:p14="http://schemas.microsoft.com/office/powerpoint/2010/main" val="318029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1C52E-416E-440D-BDD6-8DDF3A112E2E}"/>
              </a:ext>
            </a:extLst>
          </p:cNvPr>
          <p:cNvSpPr>
            <a:spLocks noGrp="1"/>
          </p:cNvSpPr>
          <p:nvPr>
            <p:ph type="title"/>
          </p:nvPr>
        </p:nvSpPr>
        <p:spPr>
          <a:xfrm>
            <a:off x="838200" y="365125"/>
            <a:ext cx="10515600" cy="1051591"/>
          </a:xfrm>
        </p:spPr>
        <p:txBody>
          <a:bodyPr/>
          <a:lstStyle/>
          <a:p>
            <a:r>
              <a:rPr lang="en-US" dirty="0"/>
              <a:t>5. Multiple linear regression </a:t>
            </a:r>
            <a:endParaRPr lang="en-IN" dirty="0"/>
          </a:p>
        </p:txBody>
      </p:sp>
      <p:pic>
        <p:nvPicPr>
          <p:cNvPr id="5" name="Picture 4">
            <a:extLst>
              <a:ext uri="{FF2B5EF4-FFF2-40B4-BE49-F238E27FC236}">
                <a16:creationId xmlns:a16="http://schemas.microsoft.com/office/drawing/2014/main" id="{15BA457F-1DA2-D072-6DC2-D80883081B75}"/>
              </a:ext>
            </a:extLst>
          </p:cNvPr>
          <p:cNvPicPr>
            <a:picLocks noChangeAspect="1"/>
          </p:cNvPicPr>
          <p:nvPr/>
        </p:nvPicPr>
        <p:blipFill>
          <a:blip r:embed="rId2"/>
          <a:stretch>
            <a:fillRect/>
          </a:stretch>
        </p:blipFill>
        <p:spPr>
          <a:xfrm>
            <a:off x="601980" y="2320887"/>
            <a:ext cx="10828002" cy="2806003"/>
          </a:xfrm>
          <a:prstGeom prst="rect">
            <a:avLst/>
          </a:prstGeom>
        </p:spPr>
      </p:pic>
    </p:spTree>
    <p:extLst>
      <p:ext uri="{BB962C8B-B14F-4D97-AF65-F5344CB8AC3E}">
        <p14:creationId xmlns:p14="http://schemas.microsoft.com/office/powerpoint/2010/main" val="1301090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0BE1-F77B-31A3-0C1A-616EF38CA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27992-135B-0CD9-0ACF-44AD712F928C}"/>
              </a:ext>
            </a:extLst>
          </p:cNvPr>
          <p:cNvSpPr>
            <a:spLocks noGrp="1"/>
          </p:cNvSpPr>
          <p:nvPr>
            <p:ph type="title"/>
          </p:nvPr>
        </p:nvSpPr>
        <p:spPr>
          <a:xfrm>
            <a:off x="838200" y="365125"/>
            <a:ext cx="10515600" cy="1051591"/>
          </a:xfrm>
        </p:spPr>
        <p:txBody>
          <a:bodyPr/>
          <a:lstStyle/>
          <a:p>
            <a:r>
              <a:rPr lang="en-US" dirty="0"/>
              <a:t>5. Multiple linear regression </a:t>
            </a:r>
            <a:endParaRPr lang="en-IN" dirty="0"/>
          </a:p>
        </p:txBody>
      </p:sp>
      <p:pic>
        <p:nvPicPr>
          <p:cNvPr id="10" name="Picture 9">
            <a:extLst>
              <a:ext uri="{FF2B5EF4-FFF2-40B4-BE49-F238E27FC236}">
                <a16:creationId xmlns:a16="http://schemas.microsoft.com/office/drawing/2014/main" id="{1EDD656E-838D-BE36-A44A-D0D33A977745}"/>
              </a:ext>
            </a:extLst>
          </p:cNvPr>
          <p:cNvPicPr>
            <a:picLocks noChangeAspect="1"/>
          </p:cNvPicPr>
          <p:nvPr/>
        </p:nvPicPr>
        <p:blipFill>
          <a:blip r:embed="rId2"/>
          <a:stretch>
            <a:fillRect/>
          </a:stretch>
        </p:blipFill>
        <p:spPr>
          <a:xfrm>
            <a:off x="2627671" y="1416716"/>
            <a:ext cx="5926394" cy="3736892"/>
          </a:xfrm>
          <a:prstGeom prst="rect">
            <a:avLst/>
          </a:prstGeom>
        </p:spPr>
      </p:pic>
      <p:sp>
        <p:nvSpPr>
          <p:cNvPr id="3" name="TextBox 2">
            <a:extLst>
              <a:ext uri="{FF2B5EF4-FFF2-40B4-BE49-F238E27FC236}">
                <a16:creationId xmlns:a16="http://schemas.microsoft.com/office/drawing/2014/main" id="{E8C9C4C0-8DF3-E9AF-88FD-1442C763A29F}"/>
              </a:ext>
            </a:extLst>
          </p:cNvPr>
          <p:cNvSpPr txBox="1"/>
          <p:nvPr/>
        </p:nvSpPr>
        <p:spPr>
          <a:xfrm>
            <a:off x="511277" y="5211097"/>
            <a:ext cx="10766323" cy="1200329"/>
          </a:xfrm>
          <a:prstGeom prst="rect">
            <a:avLst/>
          </a:prstGeom>
          <a:noFill/>
        </p:spPr>
        <p:txBody>
          <a:bodyPr wrap="square" rtlCol="0">
            <a:spAutoFit/>
          </a:bodyPr>
          <a:lstStyle/>
          <a:p>
            <a:r>
              <a:rPr lang="en-IN" dirty="0"/>
              <a:t>The equation:</a:t>
            </a:r>
            <a:br>
              <a:rPr lang="en-IN" dirty="0"/>
            </a:br>
            <a:r>
              <a:rPr lang="en-IN" dirty="0"/>
              <a:t>Birth Weight (</a:t>
            </a:r>
            <a:r>
              <a:rPr lang="en-IN" dirty="0" err="1"/>
              <a:t>bwt</a:t>
            </a:r>
            <a:r>
              <a:rPr lang="en-IN" dirty="0"/>
              <a:t>)= (−2182.0740)+(12.378*gestation)+(−31.361*</a:t>
            </a:r>
            <a:r>
              <a:rPr lang="en-IN" dirty="0" err="1"/>
              <a:t>regionnorthwest</a:t>
            </a:r>
            <a:r>
              <a:rPr lang="en-IN" dirty="0"/>
              <a:t>)+(−14.172*</a:t>
            </a:r>
            <a:r>
              <a:rPr lang="en-IN" dirty="0" err="1"/>
              <a:t>regionsoutheast</a:t>
            </a:r>
            <a:r>
              <a:rPr lang="en-IN" dirty="0"/>
              <a:t>)+(−30.795*</a:t>
            </a:r>
            <a:r>
              <a:rPr lang="en-IN" dirty="0" err="1"/>
              <a:t>regionsouthwest</a:t>
            </a:r>
            <a:r>
              <a:rPr lang="en-IN" dirty="0"/>
              <a:t>)+(1.960*age)+(12.059*height)+(3.595*weight)+(−235.434*smoke)</a:t>
            </a:r>
          </a:p>
        </p:txBody>
      </p:sp>
    </p:spTree>
    <p:extLst>
      <p:ext uri="{BB962C8B-B14F-4D97-AF65-F5344CB8AC3E}">
        <p14:creationId xmlns:p14="http://schemas.microsoft.com/office/powerpoint/2010/main" val="3640911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CD03B-57CF-D14B-F316-BBBF96954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9B4B6-E8F2-E6A4-4B86-9B8A9F889C4A}"/>
              </a:ext>
            </a:extLst>
          </p:cNvPr>
          <p:cNvSpPr>
            <a:spLocks noGrp="1"/>
          </p:cNvSpPr>
          <p:nvPr>
            <p:ph type="title"/>
          </p:nvPr>
        </p:nvSpPr>
        <p:spPr>
          <a:xfrm>
            <a:off x="838200" y="365125"/>
            <a:ext cx="10515600" cy="1051591"/>
          </a:xfrm>
        </p:spPr>
        <p:txBody>
          <a:bodyPr/>
          <a:lstStyle/>
          <a:p>
            <a:r>
              <a:rPr lang="en-US" dirty="0"/>
              <a:t>5. Multiple linear regression </a:t>
            </a:r>
            <a:endParaRPr lang="en-IN" dirty="0"/>
          </a:p>
        </p:txBody>
      </p:sp>
      <p:sp>
        <p:nvSpPr>
          <p:cNvPr id="6" name="Rectangle 1">
            <a:extLst>
              <a:ext uri="{FF2B5EF4-FFF2-40B4-BE49-F238E27FC236}">
                <a16:creationId xmlns:a16="http://schemas.microsoft.com/office/drawing/2014/main" id="{5309083C-2CC5-911D-9B87-28A26A445BED}"/>
              </a:ext>
            </a:extLst>
          </p:cNvPr>
          <p:cNvSpPr>
            <a:spLocks noGrp="1" noChangeArrowheads="1"/>
          </p:cNvSpPr>
          <p:nvPr>
            <p:ph idx="1"/>
          </p:nvPr>
        </p:nvSpPr>
        <p:spPr bwMode="auto">
          <a:xfrm>
            <a:off x="231180" y="1416716"/>
            <a:ext cx="1172964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Intercept = -2182.07 which represents the predicted birth weight when all independent variables are at their baseline (e.g., gestation = 0, non-smoker, etc.). Since this situation is unrealistic, the intercept primarily serves as a reference point.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Gestation = 12.38 which means that for every additional day of gestation, birth weight increases by approximately 12.38 grams. This is statistically significant (</a:t>
            </a:r>
            <a:r>
              <a:rPr kumimoji="0" lang="en-US" altLang="en-US" sz="1600" i="1" u="none" strike="noStrike" cap="none" normalizeH="0" baseline="0" dirty="0">
                <a:ln>
                  <a:noFill/>
                </a:ln>
                <a:solidFill>
                  <a:schemeClr val="tx1"/>
                </a:solidFill>
                <a:effectLst/>
                <a:latin typeface="Arial" panose="020B0604020202020204" pitchFamily="34" charset="0"/>
              </a:rPr>
              <a:t>p &lt; 0.001</a:t>
            </a:r>
            <a:r>
              <a:rPr kumimoji="0" lang="en-US" altLang="en-US" sz="1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Height </a:t>
            </a:r>
            <a:r>
              <a:rPr lang="en-US" altLang="en-US" sz="1600" dirty="0">
                <a:latin typeface="Arial" panose="020B0604020202020204" pitchFamily="34" charset="0"/>
              </a:rPr>
              <a:t>= </a:t>
            </a:r>
            <a:r>
              <a:rPr kumimoji="0" lang="en-US" altLang="en-US" sz="1600" i="0" u="none" strike="noStrike" cap="none" normalizeH="0" baseline="0" dirty="0">
                <a:ln>
                  <a:noFill/>
                </a:ln>
                <a:solidFill>
                  <a:schemeClr val="tx1"/>
                </a:solidFill>
                <a:effectLst/>
                <a:latin typeface="Arial" panose="020B0604020202020204" pitchFamily="34" charset="0"/>
              </a:rPr>
              <a:t>12.06</a:t>
            </a:r>
            <a:r>
              <a:rPr lang="en-US" altLang="en-US" sz="1600" dirty="0">
                <a:latin typeface="Arial" panose="020B0604020202020204" pitchFamily="34" charset="0"/>
              </a:rPr>
              <a:t>,</a:t>
            </a:r>
            <a:r>
              <a:rPr kumimoji="0" lang="en-US" altLang="en-US" sz="1600" i="0" u="none" strike="noStrike" cap="none" normalizeH="0" baseline="0" dirty="0">
                <a:ln>
                  <a:noFill/>
                </a:ln>
                <a:solidFill>
                  <a:schemeClr val="tx1"/>
                </a:solidFill>
                <a:effectLst/>
                <a:latin typeface="Arial" panose="020B0604020202020204" pitchFamily="34" charset="0"/>
              </a:rPr>
              <a:t> </a:t>
            </a:r>
            <a:r>
              <a:rPr lang="en-US" altLang="en-US" sz="1600" dirty="0">
                <a:latin typeface="Arial" panose="020B0604020202020204" pitchFamily="34" charset="0"/>
              </a:rPr>
              <a:t>meaning f</a:t>
            </a:r>
            <a:r>
              <a:rPr kumimoji="0" lang="en-US" altLang="en-US" sz="1600" i="0" u="none" strike="noStrike" cap="none" normalizeH="0" baseline="0" dirty="0">
                <a:ln>
                  <a:noFill/>
                </a:ln>
                <a:solidFill>
                  <a:schemeClr val="tx1"/>
                </a:solidFill>
                <a:effectLst/>
                <a:latin typeface="Arial" panose="020B0604020202020204" pitchFamily="34" charset="0"/>
              </a:rPr>
              <a:t>or every additional centimeter of height, birth weight increases by 12.06 grams (</a:t>
            </a:r>
            <a:r>
              <a:rPr kumimoji="0" lang="en-US" altLang="en-US" sz="1600" i="1" u="none" strike="noStrike" cap="none" normalizeH="0" baseline="0" dirty="0">
                <a:ln>
                  <a:noFill/>
                </a:ln>
                <a:solidFill>
                  <a:schemeClr val="tx1"/>
                </a:solidFill>
                <a:effectLst/>
                <a:latin typeface="Arial" panose="020B0604020202020204" pitchFamily="34" charset="0"/>
              </a:rPr>
              <a:t>p &lt; 0.001</a:t>
            </a:r>
            <a:r>
              <a:rPr kumimoji="0" lang="en-US" altLang="en-US" sz="1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Weight </a:t>
            </a:r>
            <a:r>
              <a:rPr lang="en-US" altLang="en-US" sz="1600" dirty="0">
                <a:latin typeface="Arial" panose="020B0604020202020204" pitchFamily="34" charset="0"/>
              </a:rPr>
              <a:t>= </a:t>
            </a:r>
            <a:r>
              <a:rPr kumimoji="0" lang="en-US" altLang="en-US" sz="1600" i="0" u="none" strike="noStrike" cap="none" normalizeH="0" baseline="0" dirty="0">
                <a:ln>
                  <a:noFill/>
                </a:ln>
                <a:solidFill>
                  <a:schemeClr val="tx1"/>
                </a:solidFill>
                <a:effectLst/>
                <a:latin typeface="Arial" panose="020B0604020202020204" pitchFamily="34" charset="0"/>
              </a:rPr>
              <a:t>3.59, for every kilogram of maternal weight, birth weight increases by 3.59 grams (</a:t>
            </a:r>
            <a:r>
              <a:rPr kumimoji="0" lang="en-US" altLang="en-US" sz="1600" i="1" u="none" strike="noStrike" cap="none" normalizeH="0" baseline="0" dirty="0">
                <a:ln>
                  <a:noFill/>
                </a:ln>
                <a:solidFill>
                  <a:schemeClr val="tx1"/>
                </a:solidFill>
                <a:effectLst/>
                <a:latin typeface="Arial" panose="020B0604020202020204" pitchFamily="34" charset="0"/>
              </a:rPr>
              <a:t>p = 0.0235</a:t>
            </a:r>
            <a:r>
              <a:rPr kumimoji="0" lang="en-US" altLang="en-US" sz="1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Smoking = -235.43, If the mother smokes, the baby’s birth weight decreases by 235.43 grams on average (</a:t>
            </a:r>
            <a:r>
              <a:rPr kumimoji="0" lang="en-US" altLang="en-US" sz="1600" i="1" u="none" strike="noStrike" cap="none" normalizeH="0" baseline="0" dirty="0">
                <a:ln>
                  <a:noFill/>
                </a:ln>
                <a:solidFill>
                  <a:schemeClr val="tx1"/>
                </a:solidFill>
                <a:effectLst/>
                <a:latin typeface="Arial" panose="020B0604020202020204" pitchFamily="34" charset="0"/>
              </a:rPr>
              <a:t>p &lt; 0.001</a:t>
            </a:r>
            <a:r>
              <a:rPr kumimoji="0" lang="en-US" altLang="en-US" sz="1600" i="0" u="none" strike="noStrike" cap="none" normalizeH="0" baseline="0" dirty="0">
                <a:ln>
                  <a:noFill/>
                </a:ln>
                <a:solidFill>
                  <a:schemeClr val="tx1"/>
                </a:solidFill>
                <a:effectLst/>
                <a:latin typeface="Arial" panose="020B0604020202020204" pitchFamily="34" charset="0"/>
              </a:rPr>
              <a:t>), making it a significant negative factor.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Region</a:t>
            </a:r>
            <a:r>
              <a:rPr lang="en-US" altLang="en-US" sz="1600" dirty="0">
                <a:latin typeface="Arial" panose="020B0604020202020204" pitchFamily="34" charset="0"/>
              </a:rPr>
              <a:t> and </a:t>
            </a:r>
            <a:r>
              <a:rPr kumimoji="0" lang="en-US" altLang="en-US" sz="1600" i="0" u="none" strike="noStrike" cap="none" normalizeH="0" baseline="0" dirty="0">
                <a:ln>
                  <a:noFill/>
                </a:ln>
                <a:solidFill>
                  <a:schemeClr val="tx1"/>
                </a:solidFill>
                <a:effectLst/>
                <a:latin typeface="Arial" panose="020B0604020202020204" pitchFamily="34" charset="0"/>
              </a:rPr>
              <a:t> Age - these variables are not statistically significant as they have p-values &gt; 0.05, meaning they don’t have a meaningful impact on birth weight in this dataset. </a:t>
            </a:r>
            <a:br>
              <a:rPr kumimoji="0" lang="en-US" altLang="en-US" sz="1600" i="0" u="none" strike="noStrike" cap="none" normalizeH="0" baseline="0" dirty="0">
                <a:ln>
                  <a:noFill/>
                </a:ln>
                <a:solidFill>
                  <a:schemeClr val="tx1"/>
                </a:solidFill>
                <a:effectLst/>
                <a:latin typeface="Arial" panose="020B0604020202020204" pitchFamily="34" charset="0"/>
              </a:rPr>
            </a:br>
            <a:br>
              <a:rPr kumimoji="0" lang="en-US" altLang="en-US" sz="1600" i="0" u="none" strike="noStrike" cap="none" normalizeH="0" baseline="0" dirty="0">
                <a:ln>
                  <a:noFill/>
                </a:ln>
                <a:solidFill>
                  <a:schemeClr val="tx1"/>
                </a:solidFill>
                <a:effectLst/>
                <a:latin typeface="Arial" panose="020B0604020202020204" pitchFamily="34" charset="0"/>
              </a:rPr>
            </a:br>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Multiple R-squared value = 0.2529,</a:t>
            </a:r>
            <a:r>
              <a:rPr lang="en-US" sz="1600" dirty="0">
                <a:latin typeface="Arial" panose="020B0604020202020204" pitchFamily="34" charset="0"/>
                <a:cs typeface="Arial" panose="020B0604020202020204" pitchFamily="34" charset="0"/>
              </a:rPr>
              <a:t> indicates that the model explains about 25.3% of the variability in birth weight due to the independent variables. This is a moderate level of explanation, suggesting other factors outside the model might also influence birth weights of newborns.</a:t>
            </a:r>
            <a:endParaRPr kumimoji="0" lang="en-US" altLang="en-US" sz="16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9362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BA64C-6A2E-3AD6-E318-84B709A73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AD3EF-3BDA-8CA7-9B95-B0D00590F1E2}"/>
              </a:ext>
            </a:extLst>
          </p:cNvPr>
          <p:cNvSpPr>
            <a:spLocks noGrp="1"/>
          </p:cNvSpPr>
          <p:nvPr>
            <p:ph type="title"/>
          </p:nvPr>
        </p:nvSpPr>
        <p:spPr>
          <a:xfrm>
            <a:off x="838200" y="365125"/>
            <a:ext cx="10515600" cy="1051591"/>
          </a:xfrm>
        </p:spPr>
        <p:txBody>
          <a:bodyPr/>
          <a:lstStyle/>
          <a:p>
            <a:r>
              <a:rPr lang="en-US" dirty="0"/>
              <a:t>5. Multiple linear regression – Prediction </a:t>
            </a:r>
            <a:endParaRPr lang="en-IN" dirty="0"/>
          </a:p>
        </p:txBody>
      </p:sp>
      <p:sp>
        <p:nvSpPr>
          <p:cNvPr id="7" name="TextBox 6">
            <a:extLst>
              <a:ext uri="{FF2B5EF4-FFF2-40B4-BE49-F238E27FC236}">
                <a16:creationId xmlns:a16="http://schemas.microsoft.com/office/drawing/2014/main" id="{C0587FAE-BE1B-27D9-A921-F5E923C5C911}"/>
              </a:ext>
            </a:extLst>
          </p:cNvPr>
          <p:cNvSpPr txBox="1"/>
          <p:nvPr/>
        </p:nvSpPr>
        <p:spPr>
          <a:xfrm>
            <a:off x="329380" y="3531815"/>
            <a:ext cx="11533239" cy="923330"/>
          </a:xfrm>
          <a:prstGeom prst="rect">
            <a:avLst/>
          </a:prstGeom>
          <a:noFill/>
        </p:spPr>
        <p:txBody>
          <a:bodyPr wrap="square" rtlCol="0">
            <a:spAutoFit/>
          </a:bodyPr>
          <a:lstStyle/>
          <a:p>
            <a:r>
              <a:rPr lang="en-US" dirty="0"/>
              <a:t>This predicted value indicates a healthy birth weight, despite the negative impact of smoking. Factors like a full-term pregnancy (40 weeks), the mother's height, and her weight would have probably contributed positively to the birth weight, outweighing the reduction caused by smoking.</a:t>
            </a:r>
            <a:endParaRPr lang="en-IN"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C3F703B-1624-49FC-DF4A-A5F5F8439AED}"/>
              </a:ext>
            </a:extLst>
          </p:cNvPr>
          <p:cNvPicPr>
            <a:picLocks noChangeAspect="1"/>
          </p:cNvPicPr>
          <p:nvPr/>
        </p:nvPicPr>
        <p:blipFill>
          <a:blip r:embed="rId2"/>
          <a:stretch>
            <a:fillRect/>
          </a:stretch>
        </p:blipFill>
        <p:spPr>
          <a:xfrm>
            <a:off x="579521" y="1430445"/>
            <a:ext cx="10774279" cy="1895740"/>
          </a:xfrm>
          <a:prstGeom prst="rect">
            <a:avLst/>
          </a:prstGeom>
        </p:spPr>
      </p:pic>
    </p:spTree>
    <p:extLst>
      <p:ext uri="{BB962C8B-B14F-4D97-AF65-F5344CB8AC3E}">
        <p14:creationId xmlns:p14="http://schemas.microsoft.com/office/powerpoint/2010/main" val="199823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AD1C-2FC5-D3AC-EAA7-9C6D57D3FDA9}"/>
              </a:ext>
            </a:extLst>
          </p:cNvPr>
          <p:cNvSpPr>
            <a:spLocks noGrp="1"/>
          </p:cNvSpPr>
          <p:nvPr>
            <p:ph type="title"/>
          </p:nvPr>
        </p:nvSpPr>
        <p:spPr>
          <a:xfrm>
            <a:off x="838200" y="365125"/>
            <a:ext cx="10515600" cy="775417"/>
          </a:xfrm>
        </p:spPr>
        <p:txBody>
          <a:bodyPr/>
          <a:lstStyle/>
          <a:p>
            <a:r>
              <a:rPr lang="en-US" dirty="0"/>
              <a:t>6. Conclusion </a:t>
            </a:r>
            <a:endParaRPr lang="en-IN" dirty="0"/>
          </a:p>
        </p:txBody>
      </p:sp>
      <p:sp>
        <p:nvSpPr>
          <p:cNvPr id="3" name="Content Placeholder 2">
            <a:extLst>
              <a:ext uri="{FF2B5EF4-FFF2-40B4-BE49-F238E27FC236}">
                <a16:creationId xmlns:a16="http://schemas.microsoft.com/office/drawing/2014/main" id="{DCF247DD-2A5D-9FD9-248D-2D039A9C89DB}"/>
              </a:ext>
            </a:extLst>
          </p:cNvPr>
          <p:cNvSpPr>
            <a:spLocks noGrp="1"/>
          </p:cNvSpPr>
          <p:nvPr>
            <p:ph idx="1"/>
          </p:nvPr>
        </p:nvSpPr>
        <p:spPr>
          <a:xfrm>
            <a:off x="412955" y="1327355"/>
            <a:ext cx="11425084" cy="5279921"/>
          </a:xfrm>
        </p:spPr>
        <p:txBody>
          <a:bodyPr>
            <a:normAutofit/>
          </a:bodyPr>
          <a:lstStyle/>
          <a:p>
            <a:r>
              <a:rPr lang="en-US" sz="2000" dirty="0">
                <a:latin typeface="Arial" panose="020B0604020202020204" pitchFamily="34" charset="0"/>
                <a:cs typeface="Arial" panose="020B0604020202020204" pitchFamily="34" charset="0"/>
              </a:rPr>
              <a:t>The average birth weight is approximately 3387lbs, with most weights falling between 3062 and 3714 lbs.</a:t>
            </a:r>
          </a:p>
          <a:p>
            <a:r>
              <a:rPr lang="en-US" sz="2000" dirty="0">
                <a:latin typeface="Arial" panose="020B0604020202020204" pitchFamily="34" charset="0"/>
                <a:cs typeface="Arial" panose="020B0604020202020204" pitchFamily="34" charset="0"/>
              </a:rPr>
              <a:t>Smoking during pregnancy is associated with a lower average birth weight.</a:t>
            </a:r>
          </a:p>
          <a:p>
            <a:r>
              <a:rPr lang="en-US" sz="2000" dirty="0">
                <a:latin typeface="Arial" panose="020B0604020202020204" pitchFamily="34" charset="0"/>
                <a:cs typeface="Arial" panose="020B0604020202020204" pitchFamily="34" charset="0"/>
              </a:rPr>
              <a:t>Longer gestation periods are strongly linked to higher birth weights.</a:t>
            </a:r>
          </a:p>
          <a:p>
            <a:r>
              <a:rPr lang="en-US" sz="2000" dirty="0">
                <a:latin typeface="Arial" panose="020B0604020202020204" pitchFamily="34" charset="0"/>
                <a:cs typeface="Arial" panose="020B0604020202020204" pitchFamily="34" charset="0"/>
              </a:rPr>
              <a:t>Taller and heavier mothers tend to have babies with higher birth weights.</a:t>
            </a:r>
          </a:p>
          <a:p>
            <a:r>
              <a:rPr lang="en-US" sz="2000" dirty="0">
                <a:latin typeface="Arial" panose="020B0604020202020204" pitchFamily="34" charset="0"/>
                <a:cs typeface="Arial" panose="020B0604020202020204" pitchFamily="34" charset="0"/>
              </a:rPr>
              <a:t>There is no significant difference in birth weights across regions.</a:t>
            </a:r>
          </a:p>
          <a:p>
            <a:r>
              <a:rPr lang="en-US" sz="2000" dirty="0">
                <a:latin typeface="Arial" panose="020B0604020202020204" pitchFamily="34" charset="0"/>
                <a:cs typeface="Arial" panose="020B0604020202020204" pitchFamily="34" charset="0"/>
              </a:rPr>
              <a:t>Predictive Model: A mother who smokes, is from the southwest, and has specific characteristics (e.g., gestation = 351, height = 168 cm) is predicted to have a baby weighing about 4191 grams.</a:t>
            </a:r>
          </a:p>
          <a:p>
            <a:r>
              <a:rPr lang="en-US" sz="2000" dirty="0">
                <a:latin typeface="Arial" panose="020B0604020202020204" pitchFamily="34" charset="0"/>
                <a:cs typeface="Arial" panose="020B0604020202020204" pitchFamily="34" charset="0"/>
              </a:rPr>
              <a:t>Correlation: There is a weak negative correlation (-0.25) between smoking and birth weight.</a:t>
            </a:r>
          </a:p>
          <a:p>
            <a:r>
              <a:rPr lang="en-US" sz="2000" dirty="0">
                <a:latin typeface="Arial" panose="020B0604020202020204" pitchFamily="34" charset="0"/>
                <a:cs typeface="Arial" panose="020B0604020202020204" pitchFamily="34" charset="0"/>
              </a:rPr>
              <a:t>Model Fit: The multivariate regression model explains 25.3% of the variation in birth weights which is due to the independent variables, indicating that other factors may also play a role.</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9014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1567</Words>
  <Application>Microsoft Office PowerPoint</Application>
  <PresentationFormat>Widescreen</PresentationFormat>
  <Paragraphs>59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Final Project  DATA 1204: Statistical Predictive Modelling</vt:lpstr>
      <vt:lpstr>1. Research Requirements </vt:lpstr>
      <vt:lpstr>2. Basic Descriptive Statistics</vt:lpstr>
      <vt:lpstr>2. Basic Descriptive Statistics</vt:lpstr>
      <vt:lpstr>2. Basic Descriptive Statistics</vt:lpstr>
      <vt:lpstr>2. Basic Descriptive Statistics</vt:lpstr>
      <vt:lpstr>2. Basic Descriptive Statistics</vt:lpstr>
      <vt:lpstr>3. Two tailed T-test results </vt:lpstr>
      <vt:lpstr>4. Simple linear regression – Scatter Plot</vt:lpstr>
      <vt:lpstr>4. Simple linear regression – Box Plot  (For better explanation of relation between mother being smoker and birth weights)</vt:lpstr>
      <vt:lpstr>4. Simple linear regression </vt:lpstr>
      <vt:lpstr>5. Multiple linear regression </vt:lpstr>
      <vt:lpstr>5. Multiple linear regression </vt:lpstr>
      <vt:lpstr>5. Multiple linear regression </vt:lpstr>
      <vt:lpstr>5. Multiple linear regression – Prediction </vt:lpstr>
      <vt:lpstr>6.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Shaili Jani</dc:creator>
  <cp:lastModifiedBy>Shaili Jani</cp:lastModifiedBy>
  <cp:revision>127</cp:revision>
  <dcterms:created xsi:type="dcterms:W3CDTF">2024-12-12T01:02:07Z</dcterms:created>
  <dcterms:modified xsi:type="dcterms:W3CDTF">2024-12-12T06:19:37Z</dcterms:modified>
</cp:coreProperties>
</file>